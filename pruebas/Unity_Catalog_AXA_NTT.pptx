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2011680" cy="19050"/>
          </a:xfrm>
          <a:prstGeom prst="rect">
            <a:avLst/>
          </a:prstGeom>
          <a:solidFill>
            <a:srgbClr val="24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6040" y="2450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DATABRICKS AZURE · UNITY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560320"/>
            <a:ext cx="4114800" cy="19050"/>
          </a:xfrm>
          <a:prstGeom prst="rect">
            <a:avLst/>
          </a:prstGeom>
          <a:solidFill>
            <a:srgbClr val="24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ASESORÍA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DF2F7"/>
                </a:solidFill>
              </a:rPr>
              <a:t>Gobernanza de Datos con </a:t>
            </a:r>
            <a:r>
              <a:rPr sz="3800" b="1">
                <a:solidFill>
                  <a:srgbClr val="E8523A"/>
                </a:solidFill>
              </a:rPr>
              <a:t>Unity Catalog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7316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</a:rPr>
              <a:t>Una plataforma unificada para controlar el acceso, la calidad, el linaje y los metadatos
de todos los activos de datos de la organización — desde un único punto de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AXA Clientes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NTT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Azure Databricks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FECHA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F2F7"/>
                </a:solidFill>
              </a:rPr>
              <a:t>Julio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CAPACIDADES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Funcionalidades de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2075687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57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65959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23A"/>
                </a:solidFill>
              </a:rPr>
              <a:t>Control de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221991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Gestione quién puede acceder a qué mediante privilegios, políticas basadas en atributos, filtros de filas y columnas, y asociaciones de espacios de trabajo.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874519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2075687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2057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1965959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Detección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221991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Interactúe con objetos protegibles mediante el Explorador de catálogos para detectar y administrar datos y recursos de IA registrados en Unity Catalog.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990087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3191255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1729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081527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Lineage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337559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Seguimiento automático de cómo fluyen y se conectan los activos de datos e IA, desde los datos de origen hasta los modelos, servicios y paneles.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2990087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17336" y="3191255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31729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3081527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Auditing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3337559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Registro completo de todo el acceso a datos y la actividad del sistema mediante la tabla del sistema de registro de auditoría.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105655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" y="4306823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885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4197095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23A"/>
                </a:solidFill>
              </a:rPr>
              <a:t>Clasificación de datos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4453127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Clasifique y etiquete automáticamente datos confidenciales en el catálogo mediante tags y políticas de clasificación automáticas.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4105655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17336" y="4306823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7336" y="42885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4197095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Supervisión de la calidad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976" y="4453127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Seguimiento proactivo del estado de los datos con perfiles integrados y alertas que detecten anomalías antes de llegar a los consumidores.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221223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" y="5422391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40410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2728" y="5312663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5C4"/>
                </a:solidFill>
              </a:rPr>
              <a:t>Uso compartido de datos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5568695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Comparta de forma segura los datos activos y los recursos de IA entre organizaciones y nubes mediante el protocolo OpenSharing.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7608" y="5221223"/>
            <a:ext cx="5212080" cy="10241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17336" y="5422391"/>
            <a:ext cx="438912" cy="438912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7336" y="540410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DF2F7"/>
                </a:solidFill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5976" y="5312663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Gobernanza de 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5976" y="5568695"/>
            <a:ext cx="4434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Controle los recursos de inteligencia artificial y el tráfico de IA mediante Unity Catalog y AI Gateway de forma centralizada.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Modelo de Objetos de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7528" y="1746504"/>
            <a:ext cx="1463040" cy="438912"/>
          </a:xfrm>
          <a:prstGeom prst="rect">
            <a:avLst/>
          </a:prstGeom>
          <a:solidFill>
            <a:srgbClr val="1E3248"/>
          </a:solidFill>
          <a:ln w="19050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67528" y="17465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Metastore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523" y="2185416"/>
            <a:ext cx="19050" cy="384048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13248" y="2583180"/>
            <a:ext cx="1371600" cy="41148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5831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523" y="2994660"/>
            <a:ext cx="19050" cy="41148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8" y="3406140"/>
            <a:ext cx="1280160" cy="411480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34061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Volume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3216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05088" y="4425696"/>
            <a:ext cx="1097280" cy="384048"/>
          </a:xfrm>
          <a:prstGeom prst="rect">
            <a:avLst/>
          </a:prstGeom>
          <a:solidFill>
            <a:srgbClr val="1E3248"/>
          </a:solidFill>
          <a:ln w="1905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5088" y="4425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DF2F7"/>
                </a:solidFill>
              </a:rPr>
              <a:t>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4142232"/>
            <a:ext cx="6309360" cy="1905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9523" y="3817620"/>
            <a:ext cx="19050" cy="324612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34843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6715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58587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20459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82331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44203" y="4142232"/>
            <a:ext cx="19050" cy="283464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1965960"/>
            <a:ext cx="932688" cy="1905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57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Service
credential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213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Storage
credential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9369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2316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External
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525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7472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External
metadata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0568" y="1965960"/>
            <a:ext cx="5093208" cy="1905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01103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30568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0568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Share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4375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63840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Recipient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67647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97112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97112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Provider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00919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30384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30384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Connection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434191" y="1965960"/>
            <a:ext cx="19050" cy="32004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963656" y="2286000"/>
            <a:ext cx="960120" cy="493776"/>
          </a:xfrm>
          <a:prstGeom prst="rect">
            <a:avLst/>
          </a:prstGeom>
          <a:solidFill>
            <a:srgbClr val="162232"/>
          </a:solidFill>
          <a:ln w="12700">
            <a:solidFill>
              <a:srgbClr val="8A9BA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63656" y="228600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A9BAE"/>
                </a:solidFill>
              </a:rPr>
              <a:t>Clean
Room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Objetos protegibles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6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Cada objeto en la jerarquía tiene permisos propios. Los privilegios se heredan hacia abajo salvo que se revoquen explícitamente.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33088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61104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Administrados vs Externos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61104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Tablas administradas: datos dentro del metastore. Externas: apuntan a ADLS Gen2; UC gobierna acceso sin mover archivos.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08976" y="5577840"/>
            <a:ext cx="3474720" cy="111556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36992" y="5669280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B5C4"/>
                </a:solidFill>
              </a:rPr>
              <a:t>Requisitos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36992" y="5925312"/>
            <a:ext cx="32186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AE"/>
                </a:solidFill>
              </a:rPr>
              <a:t>Databricks Runtime 11.3+. Formatos: Delta, Parquet, CSV, JSON, ORC, Avro. Nomenclatura: letras, números y guión 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¿Qué es Unity Catalog?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DF2F7"/>
                </a:solidFill>
              </a:rPr>
              <a:t>Unity Catalog (UC) es la capa de gobernanza unificada de Databricks. Proporciona un plano de control único para descubrir, securizar, auditar y documentar todos los activos de datos en todos los workspaces.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43200"/>
            <a:ext cx="5303520" cy="14630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Problema que resuelve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Acceso fragmentado: permisos distintos por workspace sin visibilidad global</a:t>
            </a:r>
          </a:p>
          <a:p>
            <a:r>
              <a:rPr sz="1000">
                <a:solidFill>
                  <a:srgbClr val="EDF2F7"/>
                </a:solidFill>
              </a:rPr>
              <a:t>→  Sin linaje: imposible rastrear de dónde viene un dato</a:t>
            </a:r>
          </a:p>
          <a:p>
            <a:r>
              <a:rPr sz="1000">
                <a:solidFill>
                  <a:srgbClr val="EDF2F7"/>
                </a:solidFill>
              </a:rPr>
              <a:t>→  Metadatos dispersos: sin catálogo centralizado ni búsqueda</a:t>
            </a:r>
          </a:p>
          <a:p>
            <a:r>
              <a:rPr sz="1000">
                <a:solidFill>
                  <a:srgbClr val="EDF2F7"/>
                </a:solidFill>
              </a:rPr>
              <a:t>→  Auditoría manual: sin registro automático de quién accede a qué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15968"/>
            <a:ext cx="5303520" cy="73152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Qué gobierna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Tablas Delta  ·  Vistas  ·  Volúmenes  ·  Modelos MLflow  ·  Funciones UDF  · 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5303520" cy="19202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5 capacidades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0292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Control de acceso unificado — GRANT/REVOKE SQL estándar en cualquier objeto</a:t>
            </a:r>
          </a:p>
          <a:p>
            <a:r>
              <a:rPr sz="1000">
                <a:solidFill>
                  <a:srgbClr val="EDF2F7"/>
                </a:solidFill>
              </a:rPr>
              <a:t>→  Linaje automático — columna a columna, sin instrumentación extra</a:t>
            </a:r>
          </a:p>
          <a:p>
            <a:r>
              <a:rPr sz="1000">
                <a:solidFill>
                  <a:srgbClr val="EDF2F7"/>
                </a:solidFill>
              </a:rPr>
              <a:t>→  Catálogo centralizado — búsqueda global por nombre, tag o comentario</a:t>
            </a:r>
          </a:p>
          <a:p>
            <a:r>
              <a:rPr sz="1000">
                <a:solidFill>
                  <a:srgbClr val="EDF2F7"/>
                </a:solidFill>
              </a:rPr>
              <a:t>→  Auditoría incorporada — system tables con cada acceso al dato</a:t>
            </a:r>
          </a:p>
          <a:p>
            <a:r>
              <a:rPr sz="1000">
                <a:solidFill>
                  <a:srgbClr val="EDF2F7"/>
                </a:solidFill>
              </a:rPr>
              <a:t>→  Delta Sharing — compartir datos entre organizaciones sin mover archivos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50208"/>
            <a:ext cx="5303520" cy="10972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Qué NO reemplaza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7939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No es una herramienta de calidad de datos (eso lo hace el Motor de Calidad)</a:t>
            </a:r>
          </a:p>
          <a:p>
            <a:r>
              <a:rPr sz="1000">
                <a:solidFill>
                  <a:srgbClr val="EDF2F7"/>
                </a:solidFill>
              </a:rPr>
              <a:t>→  No reemplaza el proceso ETL ni los notebooks PySpark</a:t>
            </a:r>
          </a:p>
          <a:p>
            <a:r>
              <a:rPr sz="1000">
                <a:solidFill>
                  <a:srgbClr val="EDF2F7"/>
                </a:solidFill>
              </a:rPr>
              <a:t>→  No gestiona la infraestructura de cómputo (eso es el cluster)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Jerarquía de Objetos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212080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9202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523A"/>
                </a:solidFill>
              </a:rPr>
              <a:t>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16712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Entidad raíz de Databricks. Una cuenta por suscripción Azure.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03911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axacolpatria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514599"/>
            <a:ext cx="5010912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06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</a:rPr>
              <a:t>Metastore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07207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Contenedor raíz de UC. Uno por región. Se adjunta a N workspaces.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791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ms-axa-eastus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" y="3154679"/>
            <a:ext cx="4809744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2461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2003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8B5C4"/>
                </a:solidFill>
              </a:rPr>
              <a:t>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3447287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Primer nivel de namespace. Separar por ambiente o dominio.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31927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uc_axa_cli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3794759"/>
            <a:ext cx="4608576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9304" y="38861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🗂️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3840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DF2F7"/>
                </a:solidFill>
              </a:rPr>
              <a:t>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216" y="408736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Agrupa tablas, vistas, volúmenes y funciones.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95935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silver / gold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9032" y="4434839"/>
            <a:ext cx="4407408" cy="56692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0472" y="4526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DF2F7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9384" y="44805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A9BAE"/>
                </a:solidFill>
              </a:rPr>
              <a:t>Table/View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9384" y="4727447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Objeto hoja. Nombre de 3 partes: catalog.schema.table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59943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8B5C4"/>
                </a:solidFill>
              </a:rPr>
              <a:t>uc_axa_cli.silver.hub_cliente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74519"/>
            <a:ext cx="5120640" cy="1170432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Nombre de 3 partes (three-part name)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203703"/>
            <a:ext cx="4846320" cy="777240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313431"/>
            <a:ext cx="457200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*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uc_axa_cli.silver.hub_cliente;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catalog : uc_axa_cli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schema  : silver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table   : hub_cliente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136391"/>
            <a:ext cx="5120640" cy="10058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20954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Recomendación de catálogos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02151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523A"/>
                </a:solidFill>
              </a:rPr>
              <a:t>→  uc_axa_cli — producción Cliente 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70331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B5C4"/>
                </a:solidFill>
              </a:rPr>
              <a:t>→  uc_axa_cli_dev — desarrollo y pruebas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04487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</a:rPr>
              <a:t>→  axa_col_dv — catálogos fuente (solo lectura)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33671"/>
            <a:ext cx="5120640" cy="6400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30682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Schemas en el proyecto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523A"/>
                </a:solidFill>
              </a:rPr>
              <a:t>bronze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44968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44968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B5C4"/>
                </a:solidFill>
              </a:rPr>
              <a:t>silver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1976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51976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A500"/>
                </a:solidFill>
              </a:rPr>
              <a:t>gold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58984" y="4562855"/>
            <a:ext cx="1115568" cy="219456"/>
          </a:xfrm>
          <a:prstGeom prst="rect">
            <a:avLst/>
          </a:prstGeom>
          <a:solidFill>
            <a:srgbClr val="1E3248"/>
          </a:solidFill>
          <a:ln w="9525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58984" y="4553711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B5C4"/>
                </a:solidFill>
              </a:rPr>
              <a:t>auditoria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Control de Acceso Unificado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288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Modelo de privilegios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Sintaxis SQL estándar: GRANT / REVOKE</a:t>
            </a:r>
          </a:p>
          <a:p>
            <a:r>
              <a:rPr sz="1000">
                <a:solidFill>
                  <a:srgbClr val="EDF2F7"/>
                </a:solidFill>
              </a:rPr>
              <a:t>→  Los permisos cascadan hacia abajo: dar acceso al catalog da acceso a todos sus schemas</a:t>
            </a:r>
          </a:p>
          <a:p>
            <a:r>
              <a:rPr sz="1000">
                <a:solidFill>
                  <a:srgbClr val="EDF2F7"/>
                </a:solidFill>
              </a:rPr>
              <a:t>→  Cada objeto tiene un owner con control total</a:t>
            </a:r>
          </a:p>
          <a:p>
            <a:r>
              <a:rPr sz="1000">
                <a:solidFill>
                  <a:srgbClr val="EDF2F7"/>
                </a:solidFill>
              </a:rPr>
              <a:t>→  Workspace admins no pueden saltarse los permisos de 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58768"/>
            <a:ext cx="5303520" cy="15544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Row Filters &amp; Column Masks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Filtros de fila: el usuario solo ve los registros de su región / dominio</a:t>
            </a:r>
          </a:p>
          <a:p>
            <a:r>
              <a:rPr sz="1000">
                <a:solidFill>
                  <a:srgbClr val="EDF2F7"/>
                </a:solidFill>
              </a:rPr>
              <a:t>→  Máscaras de columna: numero_documento aparece enmascarado para roles sin clearance</a:t>
            </a:r>
          </a:p>
          <a:p>
            <a:r>
              <a:rPr sz="1000">
                <a:solidFill>
                  <a:srgbClr val="EDF2F7"/>
                </a:solidFill>
              </a:rPr>
              <a:t>→  Se definen como funciones SQL sobre la tabla — transparentes para el usuario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Dar acceso de lectura a un grupo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USE CATALOG ON CATALOG uc_axa_cli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USE SCHEMA ON SCHEMA uc_axa_cli.gold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GRANT SELECT ON TABLE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uc_axa_cli.gold.fact_reporte_calidad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TO `analistas_calidad`;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Máscara de columna PII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CREATE FUNCTION mask_doc(doc STRING)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RETURN IF(is_member('data_owners'),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doc, CONCAT('***',RIGHT(doc,4)));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sat_beyond_health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ALTER COLUMN numero_documento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SET MASK mask_doc;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Linaje de Datos Automático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664208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Cómo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UC captura el linaje automáticamente en cada lectura/escritura — sin instrumentar código</a:t>
            </a:r>
          </a:p>
          <a:p>
            <a:r>
              <a:rPr sz="1000">
                <a:solidFill>
                  <a:srgbClr val="EDF2F7"/>
                </a:solidFill>
              </a:rPr>
              <a:t>→  Funciona en notebooks, jobs, SQL y DLT pipelines</a:t>
            </a:r>
          </a:p>
          <a:p>
            <a:r>
              <a:rPr sz="1000">
                <a:solidFill>
                  <a:srgbClr val="EDF2F7"/>
                </a:solidFill>
              </a:rPr>
              <a:t>→  Visible en Catalog Explorer o consultable vía SQL en system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94176"/>
            <a:ext cx="5303520" cy="13716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En el proyecto AXA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5029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core_bh.bh_sa_person → silver.sat_beyond_health</a:t>
            </a:r>
          </a:p>
          <a:p>
            <a:r>
              <a:rPr sz="1000">
                <a:solidFill>
                  <a:srgbClr val="EDF2F7"/>
                </a:solidFill>
              </a:rPr>
              <a:t>→  silver.sat_beyond_health → gold.fact_reporte_calidad</a:t>
            </a:r>
          </a:p>
          <a:p>
            <a:r>
              <a:rPr sz="1000">
                <a:solidFill>
                  <a:srgbClr val="EDF2F7"/>
                </a:solidFill>
              </a:rPr>
              <a:t>→  Si un campo cambia en la fuente, el linaje muestra todos los objetos impactados downstream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Linaje a nivel de tabla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source_table_full_name,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target_table_full_name, created_by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system.access.table_lineage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target_table_full_name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= 'uc_axa_cli.gold.fact_reporte_calidad'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ORDER BY event_time DESC;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Linaje a nivel de columna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source_table_full_name,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source_column_name, target_column_name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system.access.column_lineage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target_table_full_name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= 'uc_axa_cli.silver.hub_cliente'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ORDER BY event_time DESC;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Auditoría: quién accedió y cuándo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user_identity, action_name, event_time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system.access.audit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action_name = 'getTable'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AND event_time &gt; current_date() - 7;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TRAZABILIDAD ·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¿Hasta dónde llega el Linaje en UC?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74650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Nivel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874519"/>
            <a:ext cx="211226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20239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¿Automático?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366674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3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Qué captura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392424" cy="365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39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8B5C4"/>
                </a:solidFill>
              </a:rPr>
              <a:t>Condición / Limitación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🗄  Tabla → Tabla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28600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33172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✅  Automático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28600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33172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Qué tabla de origen alimentó qué tabla de destino en cada INSERT, MERGE, CREATE TABLE AS SELECT.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28600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33172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Solo requiere que las tablas estén registradas en Unity Catalog. Sin configuración adicional.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🔢  Columna → Columna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15468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✅  Automático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15468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2004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UC analiza el plan lógico y traza columna_origen → columna_destino. Ej: SELECT per_ncode AS id_entidad_hub → UC sabe la dependencia.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15468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004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Funciona con SQL o DataFrames PySpark. COALESCE(a,b) registra dependencia de ambas columnas pero no infiere la lógica interna.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23360"/>
            <a:ext cx="174650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⚙️  Transformación / Lógica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023360"/>
            <a:ext cx="211226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069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❌  No automático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023360"/>
            <a:ext cx="366674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0690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UC no captura el 'por qué' ni la regla de negocio — solo el flujo del dato.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023360"/>
            <a:ext cx="3392424" cy="822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0690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F2F7"/>
                </a:solidFill>
              </a:rPr>
              <a:t>Debe documentarse manualmente con COMMENT en tabla/columna o con TAGS.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5440680" cy="16002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Ejemplo en el proyecto AXA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330952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Linaje tabla: bh_sa_person → sat_beyond_health → fact_reporte_calidad  ✅ Automático</a:t>
            </a:r>
          </a:p>
          <a:p>
            <a:r>
              <a:rPr sz="1000">
                <a:solidFill>
                  <a:srgbClr val="EDF2F7"/>
                </a:solidFill>
              </a:rPr>
              <a:t>→  Linaje columna: TID_NCODE → tipo_documento  ✅ Automático</a:t>
            </a:r>
          </a:p>
          <a:p>
            <a:r>
              <a:rPr sz="1000">
                <a:solidFill>
                  <a:srgbClr val="EDF2F7"/>
                </a:solidFill>
              </a:rPr>
              <a:t>→  Regla de negocio del COALESCE(per_ncode, ins_ncode)  ❌ COMMENT manual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983480"/>
            <a:ext cx="5440680" cy="16002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Documentar la transformación manualmente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330952"/>
            <a:ext cx="5440680" cy="12070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440680"/>
            <a:ext cx="5166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ON TABLE uc_axa_cli.silver.sat_beyond_health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IS 'Satélite DV2.0. Fuente: core_bh.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Dedup con QUALIFY ROW_NUMBER por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id_entidad_hub = COALESCE(per_ncode, ins_ncode).';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... ALTER COLUMN tipo_documento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'Renombrado de TID_NCODE.';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Metadata en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2880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3 mecanismos nativos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COMMENT — descripción libre de tabla o columna; aparece en Catalog Explorer y búsquedas</a:t>
            </a:r>
          </a:p>
          <a:p>
            <a:r>
              <a:rPr sz="1000">
                <a:solidFill>
                  <a:srgbClr val="EDF2F7"/>
                </a:solidFill>
              </a:rPr>
              <a:t>→  TAGS — etiquetas clave-valor: clasificación, búsqueda y políticas automáticas (ej. pii=true)</a:t>
            </a:r>
          </a:p>
          <a:p>
            <a:r>
              <a:rPr sz="1000">
                <a:solidFill>
                  <a:srgbClr val="EDF2F7"/>
                </a:solidFill>
              </a:rPr>
              <a:t>→  TBLPROPERTIES — propiedades técnicas Delta: CDF, iceberg compat, data skipping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858768"/>
            <a:ext cx="5303520" cy="178308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INFORMATION_SCHEMA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E"/>
                </a:solidFill>
              </a:rPr>
              <a:t>Cada catálogo expone su propio information_schema — tablas de sistema consultables en SQL estándar.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5371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information_schema.tables — lista de tablas con comentario</a:t>
            </a:r>
          </a:p>
          <a:p>
            <a:r>
              <a:rPr sz="1000">
                <a:solidFill>
                  <a:srgbClr val="EDF2F7"/>
                </a:solidFill>
              </a:rPr>
              <a:t>→  information_schema.columns — columnas con tipo y comentario</a:t>
            </a:r>
          </a:p>
          <a:p>
            <a:r>
              <a:rPr sz="1000">
                <a:solidFill>
                  <a:srgbClr val="EDF2F7"/>
                </a:solidFill>
              </a:rPr>
              <a:t>→  information_schema.table_constraints — PK/FK declaradas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Documentar tabla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COMMENT ON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IS 'Hub de Cliente DV2.0.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Llave de negocio: tipo_documento+numero_documento.';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Documentar columna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ALTER COLUMN id_cliente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COMMENT 'tipo_documento || numero_documento.';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Agregar tags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ALTER TABLE uc_axa_cli.silver.hub_cliente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SET TAGS ('dominio'='cliente','capa'='silver',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  'pii'='true','cde'='true');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-- Buscar todos los campos PII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SELECT tag_name, tag_value,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catalog_name, schema_name, table_name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FROM system.information_schema.table_tags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WHERE tag_name='pii' AND tag_value='true';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Diccionario de Datos — Estructura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</a:rPr>
              <a:t>Catálogo centralizado de todos los metadatos de la solución. Campos mínimos por columna: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132588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249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Campo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212848"/>
            <a:ext cx="96012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5376" y="224942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Tipo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212848"/>
            <a:ext cx="205740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24942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212848"/>
            <a:ext cx="105156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224942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Restricción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12848"/>
            <a:ext cx="160020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24942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Tabla Ref.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212848"/>
            <a:ext cx="7772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22494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PII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212848"/>
            <a:ext cx="16916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224942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Seguridad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212848"/>
            <a:ext cx="777240" cy="320040"/>
          </a:xfrm>
          <a:prstGeom prst="rect">
            <a:avLst/>
          </a:prstGeom>
          <a:solidFill>
            <a:srgbClr val="1E3248"/>
          </a:solidFill>
          <a:ln w="9525">
            <a:solidFill>
              <a:srgbClr val="E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77856" y="22494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B5C4"/>
                </a:solidFill>
              </a:rPr>
              <a:t>CDE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3288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56946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pk_hub_cliente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253288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65376" y="256946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BIGINT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53288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1216" y="256946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Llave surrogate del 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53288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4336" y="256946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53288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71616" y="256946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5328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256946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53288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256946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253288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77856" y="256946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52928"/>
            <a:ext cx="132588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288950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id_cliente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2852928"/>
            <a:ext cx="96012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65376" y="288950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STRING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852928"/>
            <a:ext cx="20574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288950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tipo_doc + num_doc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2852928"/>
            <a:ext cx="105156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288950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UK|NOT 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852928"/>
            <a:ext cx="16002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71616" y="288950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85292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7536" y="288950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2852928"/>
            <a:ext cx="16916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288950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Confidencial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1280" y="285292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77856" y="288950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17296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6" y="320954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fk_hub_cliente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317296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65376" y="320954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BIGINT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17296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71216" y="320954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Referencia al 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317296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74336" y="320954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FK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17296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71616" y="320954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hub_cliente.pk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317296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17536" y="320954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3920" y="317296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0496" y="320954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1280" y="317296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77856" y="320954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3493008"/>
            <a:ext cx="132588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3776" y="352958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numero_documento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0" y="3493008"/>
            <a:ext cx="96012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65376" y="352958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STRING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34640" y="3493008"/>
            <a:ext cx="20574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71216" y="352958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Número de identificación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7760" y="3493008"/>
            <a:ext cx="105156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74336" y="352958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NOT NULL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3493008"/>
            <a:ext cx="160020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71616" y="352958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349300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17536" y="352958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3493008"/>
            <a:ext cx="16916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0496" y="352958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Confidencial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41280" y="3493008"/>
            <a:ext cx="777240" cy="320040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77856" y="352958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3813048"/>
            <a:ext cx="132588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3776" y="38496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porcentaje_calidad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0" y="3813048"/>
            <a:ext cx="96012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65376" y="384962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DOUBLE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3813048"/>
            <a:ext cx="20574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71216" y="3849624"/>
            <a:ext cx="19842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% válidos/evaluados×100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7760" y="3813048"/>
            <a:ext cx="105156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74336" y="3849624"/>
            <a:ext cx="9784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NULLABLE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40" y="3813048"/>
            <a:ext cx="160020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71616" y="3849624"/>
            <a:ext cx="15270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80960" y="381304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17536" y="38496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3920" y="3813048"/>
            <a:ext cx="16916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0496" y="3849624"/>
            <a:ext cx="1618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F2F7"/>
                </a:solidFill>
              </a:rPr>
              <a:t>Uso Interno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41280" y="3813048"/>
            <a:ext cx="777240" cy="320040"/>
          </a:xfrm>
          <a:prstGeom prst="rect">
            <a:avLst/>
          </a:prstGeom>
          <a:solidFill>
            <a:srgbClr val="162232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77856" y="3849624"/>
            <a:ext cx="704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523A"/>
                </a:solidFill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436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Mínimo requerido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436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Nombre de campo</a:t>
            </a:r>
          </a:p>
          <a:p>
            <a:r>
              <a:rPr sz="1000">
                <a:solidFill>
                  <a:srgbClr val="EDF2F7"/>
                </a:solidFill>
              </a:rPr>
              <a:t>→  Tipo de dato</a:t>
            </a:r>
          </a:p>
          <a:p>
            <a:r>
              <a:rPr sz="1000">
                <a:solidFill>
                  <a:srgbClr val="EDF2F7"/>
                </a:solidFill>
              </a:rPr>
              <a:t>→  Descripción de negocio</a:t>
            </a:r>
          </a:p>
          <a:p>
            <a:r>
              <a:rPr sz="1000">
                <a:solidFill>
                  <a:srgbClr val="EDF2F7"/>
                </a:solidFill>
              </a:rPr>
              <a:t>→  Restricciones (PK/FK/UK)</a:t>
            </a:r>
          </a:p>
          <a:p>
            <a:r>
              <a:rPr sz="1000">
                <a:solidFill>
                  <a:srgbClr val="EDF2F7"/>
                </a:solidFill>
              </a:rPr>
              <a:t>→  Tabla referenciada (FK)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6052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9768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Gobierno del dato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9768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Es dato personal (PII)</a:t>
            </a:r>
          </a:p>
          <a:p>
            <a:r>
              <a:rPr sz="1000">
                <a:solidFill>
                  <a:srgbClr val="EDF2F7"/>
                </a:solidFill>
              </a:rPr>
              <a:t>→  Clasificación de seguridad</a:t>
            </a:r>
          </a:p>
          <a:p>
            <a:r>
              <a:rPr sz="1000">
                <a:solidFill>
                  <a:srgbClr val="EDF2F7"/>
                </a:solidFill>
              </a:rPr>
              <a:t>→  Clasificación privacidad</a:t>
            </a:r>
          </a:p>
          <a:p>
            <a:r>
              <a:rPr sz="1000">
                <a:solidFill>
                  <a:srgbClr val="EDF2F7"/>
                </a:solidFill>
              </a:rPr>
              <a:t>→  CDE (Dato Crítico)</a:t>
            </a:r>
          </a:p>
          <a:p>
            <a:r>
              <a:rPr sz="1000">
                <a:solidFill>
                  <a:srgbClr val="EDF2F7"/>
                </a:solidFill>
              </a:rPr>
              <a:t>→  RDM (Referencia)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63840" y="4315968"/>
            <a:ext cx="3566160" cy="237744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0100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Dónde vive en UC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01000" y="46634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COMMENT → descripción</a:t>
            </a:r>
          </a:p>
          <a:p>
            <a:r>
              <a:rPr sz="1000">
                <a:solidFill>
                  <a:srgbClr val="EDF2F7"/>
                </a:solidFill>
              </a:rPr>
              <a:t>→  TAGS → pii, cde, seguridad</a:t>
            </a:r>
          </a:p>
          <a:p>
            <a:r>
              <a:rPr sz="1000">
                <a:solidFill>
                  <a:srgbClr val="EDF2F7"/>
                </a:solidFill>
              </a:rPr>
              <a:t>→  information_schema → tipos y restricciones</a:t>
            </a:r>
          </a:p>
          <a:p>
            <a:r>
              <a:rPr sz="1000">
                <a:solidFill>
                  <a:srgbClr val="EDF2F7"/>
                </a:solidFill>
              </a:rPr>
              <a:t>→  Excel/Confluence → complementario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OPTIMIZACIÓN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Automatización desde 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1874519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Flujo recomendado (sin trabajo manual)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50292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1  Llenar el Excel de metadatos una sola vez</a:t>
            </a:r>
          </a:p>
          <a:p>
            <a:r>
              <a:rPr sz="1000">
                <a:solidFill>
                  <a:srgbClr val="EDF2F7"/>
                </a:solidFill>
              </a:rPr>
              <a:t>→  2  Un notebook Python lee el Excel y ejecuta los COMMENT y ALTER TABLE en loop</a:t>
            </a:r>
          </a:p>
          <a:p>
            <a:r>
              <a:rPr sz="1000">
                <a:solidFill>
                  <a:srgbClr val="EDF2F7"/>
                </a:solidFill>
              </a:rPr>
              <a:t>→  3  El resultado queda vivo en UC — visible en Catalog Explorer</a:t>
            </a:r>
          </a:p>
          <a:p>
            <a:r>
              <a:rPr sz="1000">
                <a:solidFill>
                  <a:srgbClr val="EDF2F7"/>
                </a:solidFill>
              </a:rPr>
              <a:t>→  4  El diccionario se extrae automáticamente desde information_schema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04488"/>
            <a:ext cx="530352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95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Herramientas disponibles en Databricks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DF2F7"/>
                </a:solidFill>
              </a:rPr>
              <a:t>→  AI-generated comments — UC sugiere descripciones automáticas con IA (Databricks AI)</a:t>
            </a:r>
          </a:p>
          <a:p>
            <a:r>
              <a:rPr sz="1000">
                <a:solidFill>
                  <a:srgbClr val="EDF2F7"/>
                </a:solidFill>
              </a:rPr>
              <a:t>→  Catalog Explorer — edición de comments y tags vía UI sin SQL</a:t>
            </a:r>
          </a:p>
          <a:p>
            <a:r>
              <a:rPr sz="1000">
                <a:solidFill>
                  <a:srgbClr val="EDF2F7"/>
                </a:solidFill>
              </a:rPr>
              <a:t>→  REST API de UC — para integraciones CI/CD (Terraform, GitHub Actions)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4407408"/>
          </a:xfrm>
          <a:prstGeom prst="rect">
            <a:avLst/>
          </a:prstGeom>
          <a:solidFill>
            <a:srgbClr val="0A1520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0292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Notebook: cargar metadata masiva desde Excel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import pandas as pd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 = pd.read_excel('/dbfs/FileStore/Metadata.xlsx',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         sheet_name='Metadatos Columna')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for _, row in df.iterrows():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tabla = f"{row['Esquema Destino']}.{row['Nombre Activo']}"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col   = row['Columna']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desc  = row['Descripción Columna']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pii   = str(row['Datos Personales']).lower()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spark.sql(f"""ALTER TABLE uc_axa_cli.{tabla}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ALTER COLUMN {col} COMMENT '{desc}'""")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if pii in ('privado','sensible'):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spark.sql(f"""ALTER TABLE uc_axa_cli.{tabla}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 ALTER COLUMN {col} SET TAGS ('pii'='true')""")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# Exportar diccionario actualizado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df_dict = spark.sql("""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SELECT table_schema, table_name,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       column_name, data_type, comment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FROM uc_axa_cli.information_schema.columns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WHERE table_schema IN ('bronze','silver','gold')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ORDER BY table_schema, table_name, ordinal_position""")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df_dict.toPandas().to_excel(</a:t>
            </a:r>
          </a:p>
          <a:p>
            <a:pPr algn="l"/>
            <a:r>
              <a:rPr sz="950">
                <a:solidFill>
                  <a:srgbClr val="A8D4FF"/>
                </a:solidFill>
                <a:latin typeface="Courier New"/>
              </a:rPr>
              <a:t>  '/dbfs/FileStore/diccionario_actualizado.xlsx', index=False)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SOLUCIÓN · AXA CLIENTES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Arquitectura Medallón en Unity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474720" cy="4389120"/>
          </a:xfrm>
          <a:prstGeom prst="rect">
            <a:avLst/>
          </a:prstGeom>
          <a:solidFill>
            <a:srgbClr val="2A1A0A"/>
          </a:solidFill>
          <a:ln w="1524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D7F32"/>
                </a:solidFill>
              </a:rPr>
              <a:t>🥉 Bronze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📋 parametros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Ingesta directa desde plantilla Excel.
Tablas Delta sin transformación.
Retención: 1-3 años.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828800"/>
            <a:ext cx="3474720" cy="4389120"/>
          </a:xfrm>
          <a:prstGeom prst="rect">
            <a:avLst/>
          </a:prstGeom>
          <a:solidFill>
            <a:srgbClr val="0F2030"/>
          </a:solidFill>
          <a:ln w="15240">
            <a:solidFill>
              <a:srgbClr val="4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B5C4"/>
                </a:solidFill>
              </a:rPr>
              <a:t>🥈 Silver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sat_beyond_health  [BH]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262432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6609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sat_sise_pyc  [SISE]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2962656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99923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⭐ sat_arl  [ARL]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3300984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33756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🔗 hub_cliente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3639312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6758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dim_parametros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397764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401421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dim_reglas_calidad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8536" y="431596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435254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📐 dim_tiempo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Data Vault 2.0.
PySpark puro, sin SQL de negocio.
Retención: 5-10 años.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4696" y="1828800"/>
            <a:ext cx="3474720" cy="4389120"/>
          </a:xfrm>
          <a:prstGeom prst="rect">
            <a:avLst/>
          </a:prstGeom>
          <a:solidFill>
            <a:srgbClr val="1A1500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🥇 Gold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4424" y="2286000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23225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📊 fact_reporte_calidad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4424" y="2624328"/>
            <a:ext cx="3255264" cy="310896"/>
          </a:xfrm>
          <a:prstGeom prst="rect">
            <a:avLst/>
          </a:prstGeom>
          <a:solidFill>
            <a:srgbClr val="1E3248"/>
          </a:solidFill>
          <a:ln w="6350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6" y="26609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F2F7"/>
                </a:solidFill>
              </a:rPr>
              <a:t>📊 fact_resumen_reporte_calidad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AE"/>
                </a:solidFill>
              </a:rPr>
              <a:t>Consumo analítico.
Dashboards ejecutivos de calidad.
Retención: 10+ años.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Catálogo Unity Catalog: uc_axa_cli  ·  Schemas: bronze / silver / gold / auditoria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23A"/>
                </a:solidFill>
              </a:rP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2F7"/>
                </a:solidFill>
              </a:rPr>
              <a:t>Plan de Implementación UC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" cy="38100"/>
          </a:xfrm>
          <a:prstGeom prst="rect">
            <a:avLst/>
          </a:prstGeom>
          <a:solidFill>
            <a:srgbClr val="E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AE"/>
                </a:solidFill>
              </a:rPr>
              <a:t>13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1 — 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Crear metastore en East US</a:t>
            </a:r>
          </a:p>
          <a:p>
            <a:r>
              <a:rPr sz="1050">
                <a:solidFill>
                  <a:srgbClr val="EDF2F7"/>
                </a:solidFill>
              </a:rPr>
              <a:t>→  Adjuntar todos los workspaces al metastore</a:t>
            </a:r>
          </a:p>
          <a:p>
            <a:r>
              <a:rPr sz="1050">
                <a:solidFill>
                  <a:srgbClr val="EDF2F7"/>
                </a:solidFill>
              </a:rPr>
              <a:t>→  Crear catálogo uc_axa_cli</a:t>
            </a:r>
          </a:p>
          <a:p>
            <a:r>
              <a:rPr sz="1050">
                <a:solidFill>
                  <a:srgbClr val="EDF2F7"/>
                </a:solidFill>
              </a:rPr>
              <a:t>→  Crear schemas bronze / silver / gold / auditoria</a:t>
            </a:r>
          </a:p>
          <a:p>
            <a:r>
              <a:rPr sz="1050">
                <a:solidFill>
                  <a:srgbClr val="EDF2F7"/>
                </a:solidFill>
              </a:rPr>
              <a:t>→  Definir External Location sobre ADLS Gen2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2 — Datos y Permisos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Migrar tablas Hive a UC (SYNC)</a:t>
            </a:r>
          </a:p>
          <a:p>
            <a:r>
              <a:rPr sz="1050">
                <a:solidFill>
                  <a:srgbClr val="EDF2F7"/>
                </a:solidFill>
              </a:rPr>
              <a:t>→  Crear grupos: data_owners, analistas, ingenieros</a:t>
            </a:r>
          </a:p>
          <a:p>
            <a:r>
              <a:rPr sz="1050">
                <a:solidFill>
                  <a:srgbClr val="EDF2F7"/>
                </a:solidFill>
              </a:rPr>
              <a:t>→  GRANT según rol (lectura, escritura, admin)</a:t>
            </a:r>
          </a:p>
          <a:p>
            <a:r>
              <a:rPr sz="1050">
                <a:solidFill>
                  <a:srgbClr val="EDF2F7"/>
                </a:solidFill>
              </a:rPr>
              <a:t>→  Aplicar column masks en campos PII</a:t>
            </a:r>
          </a:p>
          <a:p>
            <a:r>
              <a:rPr sz="1050">
                <a:solidFill>
                  <a:srgbClr val="EDF2F7"/>
                </a:solidFill>
              </a:rPr>
              <a:t>→  Activar row filters por unidad de negocio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611880" cy="31089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965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B5C4"/>
                </a:solidFill>
              </a:rPr>
              <a:t>Fase 3 — Gobernanza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258567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DF2F7"/>
                </a:solidFill>
              </a:rPr>
              <a:t>→  Cargar metadata desde Excel (notebook Python)</a:t>
            </a:r>
          </a:p>
          <a:p>
            <a:r>
              <a:rPr sz="1050">
                <a:solidFill>
                  <a:srgbClr val="EDF2F7"/>
                </a:solidFill>
              </a:rPr>
              <a:t>→  Agregar COMMENT y TAGS a todas las tablas</a:t>
            </a:r>
          </a:p>
          <a:p>
            <a:r>
              <a:rPr sz="1050">
                <a:solidFill>
                  <a:srgbClr val="EDF2F7"/>
                </a:solidFill>
              </a:rPr>
              <a:t>→  Generar diccionario desde information_schema</a:t>
            </a:r>
          </a:p>
          <a:p>
            <a:r>
              <a:rPr sz="1050">
                <a:solidFill>
                  <a:srgbClr val="EDF2F7"/>
                </a:solidFill>
              </a:rPr>
              <a:t>→  Activar system tables para auditoría</a:t>
            </a:r>
          </a:p>
          <a:p>
            <a:r>
              <a:rPr sz="1050">
                <a:solidFill>
                  <a:srgbClr val="EDF2F7"/>
                </a:solidFill>
              </a:rPr>
              <a:t>→  Revisar linaje en Catalog Explorer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DF2F7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tablas documentadas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8B5C4"/>
                </a:solidFill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columnas en el diccionario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capas medallón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5138928"/>
            <a:ext cx="2606040" cy="1508760"/>
          </a:xfrm>
          <a:prstGeom prst="rect">
            <a:avLst/>
          </a:prstGeom>
          <a:solidFill>
            <a:srgbClr val="162232"/>
          </a:solidFill>
          <a:ln w="9525">
            <a:solidFill>
              <a:srgbClr val="24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3035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CAF50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0076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E"/>
                </a:solidFill>
              </a:rPr>
              <a:t>trabajo manual para el diccionario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