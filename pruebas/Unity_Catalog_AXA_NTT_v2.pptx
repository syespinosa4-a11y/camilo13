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9"/>
    <p:sldId id="270" r:id="rId20"/>
    <p:sldId id="271" r:id="rId21"/>
    <p:sldId id="272" r:id="rId22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8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2011680" cy="19050"/>
          </a:xfrm>
          <a:prstGeom prst="rect">
            <a:avLst/>
          </a:prstGeom>
          <a:solidFill>
            <a:srgbClr val="24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0" y="2450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DATABRICKS AZURE · UNITY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560320"/>
            <a:ext cx="4114800" cy="19050"/>
          </a:xfrm>
          <a:prstGeom prst="rect">
            <a:avLst/>
          </a:prstGeom>
          <a:solidFill>
            <a:srgbClr val="24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ASESORÍA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DF2F7"/>
                </a:solidFill>
              </a:rPr>
              <a:t>Gobernanza de Datos con </a:t>
            </a:r>
            <a:r>
              <a:rPr sz="3800" b="1">
                <a:solidFill>
                  <a:srgbClr val="E8523A"/>
                </a:solidFill>
              </a:rPr>
              <a:t>Unity Catalog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77316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</a:rPr>
              <a:t>Una plataforma unificada para controlar el acceso, la calidad, el linaje y los metadatos
de todos los activos de datos de la organización — desde un único punto de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AXA Clientes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PROVEEDOR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NTT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Azure Databricks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FECHA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Julio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CAPACIDADES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Funcionalidades de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" y="2075687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057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65959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23A"/>
                </a:solidFill>
              </a:rPr>
              <a:t>Control de acceso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221991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Gestione quién puede acceder a qué mediante privilegios, políticas basadas en atributos, filtros de filas y columnas, y asociaciones de espacios de trabajo.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874519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17336" y="2075687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2057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1965959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5C4"/>
                </a:solidFill>
              </a:rPr>
              <a:t>Detección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221991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Interactúe con objetos protegibles mediante el Explorador de catálogos para detectar y administrar datos y recursos de IA registrados en Unity Catalog.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990087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" y="3191255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1729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081527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5C4"/>
                </a:solidFill>
              </a:rPr>
              <a:t>Lineage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337559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Seguimiento automático de cómo fluyen y se conectan los activos de datos e IA, desde los datos de origen hasta los modelos, servicios y paneles.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8" y="2990087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17336" y="3191255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17336" y="31729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3081527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Auditing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3337559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Registro completo de todo el acceso a datos y la actividad del sistema mediante la tabla del sistema de registro de auditoría.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105655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4088" y="4306823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42885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🏷️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4197095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23A"/>
                </a:solidFill>
              </a:rPr>
              <a:t>Clasificación de datos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4453127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Clasifique y etiquete automáticamente datos confidenciales en el catálogo mediante tags y políticas de clasificación automáticas.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4105655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17336" y="4306823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17336" y="42885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4197095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Supervisión de la calidad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5976" y="4453127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Seguimiento proactivo del estado de los datos con perfiles integrados y alertas que detecten anomalías antes de llegar a los consumidores.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221223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4088" y="5422391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" y="540410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2728" y="5312663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5C4"/>
                </a:solidFill>
              </a:rPr>
              <a:t>Uso compartido de datos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728" y="5568695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Comparta de forma segura los datos activos y los recursos de IA entre organizaciones y nubes mediante el protocolo OpenSharing.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7608" y="5221223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17336" y="5422391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17336" y="540410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5976" y="5312663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Gobernanza de 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5976" y="5568695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Controle los recursos de inteligencia artificial y el tráfico de IA mediante Unity Catalog y AI Gateway de forma centralizada.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Modelo de Objetos de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7528" y="1746504"/>
            <a:ext cx="1463040" cy="438912"/>
          </a:xfrm>
          <a:prstGeom prst="rect">
            <a:avLst/>
          </a:prstGeom>
          <a:solidFill>
            <a:srgbClr val="1E3248"/>
          </a:solidFill>
          <a:ln w="19050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98128" y="174650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Metastore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523" y="2185416"/>
            <a:ext cx="19050" cy="384048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13248" y="2583180"/>
            <a:ext cx="1371600" cy="411480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13248" y="25831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Catalog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523" y="2994660"/>
            <a:ext cx="19050" cy="41148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58968" y="3406140"/>
            <a:ext cx="1280160" cy="411480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8968" y="34061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8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95728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Volume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1344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3216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43216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05088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05088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4142232"/>
            <a:ext cx="6309360" cy="1905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9523" y="3817620"/>
            <a:ext cx="19050" cy="324612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34843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96715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58587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720459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82331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44203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 flipV="1">
            <a:off x="790574" y="1943099"/>
            <a:ext cx="4576953" cy="45719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057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Service
credential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4213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37160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Storage
credential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9369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2316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2316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External
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525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47472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External
metadata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0568" y="1965959"/>
            <a:ext cx="4622673" cy="55627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01103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30568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30568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Share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437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86384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Recipient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67647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897112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897112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Provider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00919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930384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30384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Connection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434191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963656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963656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Clean
Room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77840"/>
            <a:ext cx="3474720" cy="111556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5216" y="5669280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Objetos protegibles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6" y="5925312"/>
            <a:ext cx="3218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Cada objeto en la jerarquía tiene permisos propios. Los privilegios se heredan hacia abajo salvo que se revoquen explícitamente.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33088" y="5577840"/>
            <a:ext cx="3474720" cy="111556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61104" y="5669280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Administrados vs Externos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61104" y="5925312"/>
            <a:ext cx="3218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Tablas administradas: datos dentro del metastore. Externas: apuntan a ADLS Gen2; UC gobierna acceso sin mover archivos.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08976" y="5577840"/>
            <a:ext cx="3474720" cy="111556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936992" y="5669280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Requisitos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36992" y="5925312"/>
            <a:ext cx="3218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Databricks Runtime 11.3+. Formatos: Delta, Parquet, CSV, JSON, ORC, Avro. Nomenclatura: letras, números y guión bajo.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¿Qué es Unity Catalog?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DF2F7"/>
                </a:solidFill>
              </a:rPr>
              <a:t>Unity Catalog (UC) es la capa de gobernanza unificada de Databricks. Proporciona un plano de control único para descubrir, securizar, auditar y documentar todos los activos de datos en todos los workspaces.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743200"/>
            <a:ext cx="5303520" cy="14630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Problema que resuelve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Acceso fragmentado: permisos distintos por workspace sin visibilidad global</a:t>
            </a:r>
          </a:p>
          <a:p>
            <a:r>
              <a:rPr sz="1000">
                <a:solidFill>
                  <a:srgbClr val="EDF2F7"/>
                </a:solidFill>
              </a:rPr>
              <a:t>→  Sin linaje: imposible rastrear de dónde viene un dato</a:t>
            </a:r>
          </a:p>
          <a:p>
            <a:r>
              <a:rPr sz="1000">
                <a:solidFill>
                  <a:srgbClr val="EDF2F7"/>
                </a:solidFill>
              </a:rPr>
              <a:t>→  Metadatos dispersos: sin catálogo centralizado ni búsqueda</a:t>
            </a:r>
          </a:p>
          <a:p>
            <a:r>
              <a:rPr sz="1000">
                <a:solidFill>
                  <a:srgbClr val="EDF2F7"/>
                </a:solidFill>
              </a:rPr>
              <a:t>→  Auditoría manual: sin registro automático de quién accede a qué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15968"/>
            <a:ext cx="5303520" cy="73152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Qué gobierna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B5C4"/>
                </a:solidFill>
              </a:rPr>
              <a:t>Tablas Delta  ·  Vistas  ·  Volúmenes  ·  Modelos MLflow  ·  Funciones UDF  · 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5303520" cy="19202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5 capacidades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0292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Control de acceso unificado — GRANT/REVOKE SQL estándar en cualquier objeto</a:t>
            </a:r>
          </a:p>
          <a:p>
            <a:r>
              <a:rPr sz="1000">
                <a:solidFill>
                  <a:srgbClr val="EDF2F7"/>
                </a:solidFill>
              </a:rPr>
              <a:t>→  Linaje automático — columna a columna, sin instrumentación extra</a:t>
            </a:r>
          </a:p>
          <a:p>
            <a:r>
              <a:rPr sz="1000">
                <a:solidFill>
                  <a:srgbClr val="EDF2F7"/>
                </a:solidFill>
              </a:rPr>
              <a:t>→  Catálogo centralizado — búsqueda global por nombre, tag o comentario</a:t>
            </a:r>
          </a:p>
          <a:p>
            <a:r>
              <a:rPr sz="1000">
                <a:solidFill>
                  <a:srgbClr val="EDF2F7"/>
                </a:solidFill>
              </a:rPr>
              <a:t>→  Auditoría incorporada — system tables con cada acceso al dato</a:t>
            </a:r>
          </a:p>
          <a:p>
            <a:r>
              <a:rPr sz="1000">
                <a:solidFill>
                  <a:srgbClr val="EDF2F7"/>
                </a:solidFill>
              </a:rPr>
              <a:t>→  Delta Sharing — compartir datos entre organizaciones sin mover archivos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50208"/>
            <a:ext cx="5303520" cy="10972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Qué NO reemplaza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7939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No es una herramienta de calidad de datos (eso lo hace el Motor de Calidad)</a:t>
            </a:r>
          </a:p>
          <a:p>
            <a:r>
              <a:rPr sz="1000">
                <a:solidFill>
                  <a:srgbClr val="EDF2F7"/>
                </a:solidFill>
              </a:rPr>
              <a:t>→  No reemplaza el proceso ETL ni los notebooks PySpark</a:t>
            </a:r>
          </a:p>
          <a:p>
            <a:r>
              <a:rPr sz="1000">
                <a:solidFill>
                  <a:srgbClr val="EDF2F7"/>
                </a:solidFill>
              </a:rPr>
              <a:t>→  No gestiona la infraestructura de cómputo (eso es el cluster)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Jerarquía de Objetos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212080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9202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523A"/>
                </a:solidFill>
              </a:rPr>
              <a:t>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7915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Entidad raíz de Databricks. Una cuenta por suscripción Azure.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03911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axacolpatria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514599"/>
            <a:ext cx="5010912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606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60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A500"/>
                </a:solidFill>
              </a:rPr>
              <a:t>Metastore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2703784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8A9BAE"/>
                </a:solidFill>
              </a:rPr>
              <a:t>Contenedor</a:t>
            </a:r>
            <a:r>
              <a:rPr sz="950" b="0" i="0" dirty="0">
                <a:solidFill>
                  <a:srgbClr val="8A9BAE"/>
                </a:solidFill>
              </a:rPr>
              <a:t> </a:t>
            </a:r>
            <a:r>
              <a:rPr sz="950" b="0" i="0" dirty="0" err="1">
                <a:solidFill>
                  <a:srgbClr val="8A9BAE"/>
                </a:solidFill>
              </a:rPr>
              <a:t>raíz</a:t>
            </a:r>
            <a:r>
              <a:rPr sz="950" b="0" i="0" dirty="0">
                <a:solidFill>
                  <a:srgbClr val="8A9BAE"/>
                </a:solidFill>
              </a:rPr>
              <a:t> de UC. Uno </a:t>
            </a:r>
            <a:r>
              <a:rPr sz="950" b="0" i="0" dirty="0" err="1">
                <a:solidFill>
                  <a:srgbClr val="8A9BAE"/>
                </a:solidFill>
              </a:rPr>
              <a:t>por</a:t>
            </a:r>
            <a:r>
              <a:rPr sz="950" b="0" i="0" dirty="0">
                <a:solidFill>
                  <a:srgbClr val="8A9BAE"/>
                </a:solidFill>
              </a:rPr>
              <a:t> </a:t>
            </a:r>
            <a:r>
              <a:rPr sz="950" b="0" i="0" dirty="0" err="1">
                <a:solidFill>
                  <a:srgbClr val="8A9BAE"/>
                </a:solidFill>
              </a:rPr>
              <a:t>región</a:t>
            </a:r>
            <a:r>
              <a:rPr sz="950" b="0" i="0" dirty="0">
                <a:solidFill>
                  <a:srgbClr val="8A9BAE"/>
                </a:solidFill>
              </a:rPr>
              <a:t>. Se </a:t>
            </a:r>
            <a:r>
              <a:rPr sz="950" b="0" i="0" dirty="0" err="1">
                <a:solidFill>
                  <a:srgbClr val="8A9BAE"/>
                </a:solidFill>
              </a:rPr>
              <a:t>adjunta</a:t>
            </a:r>
            <a:r>
              <a:rPr sz="950" b="0" i="0" dirty="0">
                <a:solidFill>
                  <a:srgbClr val="8A9BAE"/>
                </a:solidFill>
              </a:rPr>
              <a:t> a N workspaces.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6791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ms-axa-eastus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" y="3154679"/>
            <a:ext cx="4809744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" y="32461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2003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8B5C4"/>
                </a:solidFill>
              </a:rPr>
              <a:t>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319271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8A9BAE"/>
                </a:solidFill>
              </a:rPr>
              <a:t>Primer </a:t>
            </a:r>
            <a:r>
              <a:rPr sz="950" b="0" i="0" dirty="0" err="1">
                <a:solidFill>
                  <a:srgbClr val="8A9BAE"/>
                </a:solidFill>
              </a:rPr>
              <a:t>nivel</a:t>
            </a:r>
            <a:r>
              <a:rPr sz="950" b="0" i="0" dirty="0">
                <a:solidFill>
                  <a:srgbClr val="8A9BAE"/>
                </a:solidFill>
              </a:rPr>
              <a:t> de namespace. </a:t>
            </a:r>
            <a:r>
              <a:rPr sz="950" b="0" i="0" dirty="0" err="1">
                <a:solidFill>
                  <a:srgbClr val="8A9BAE"/>
                </a:solidFill>
              </a:rPr>
              <a:t>Separar</a:t>
            </a:r>
            <a:r>
              <a:rPr sz="950" b="0" i="0" dirty="0">
                <a:solidFill>
                  <a:srgbClr val="8A9BAE"/>
                </a:solidFill>
              </a:rPr>
              <a:t> </a:t>
            </a:r>
            <a:r>
              <a:rPr sz="950" b="0" i="0" dirty="0" err="1">
                <a:solidFill>
                  <a:srgbClr val="8A9BAE"/>
                </a:solidFill>
              </a:rPr>
              <a:t>por</a:t>
            </a:r>
            <a:r>
              <a:rPr sz="950" b="0" i="0" dirty="0">
                <a:solidFill>
                  <a:srgbClr val="8A9BAE"/>
                </a:solidFill>
              </a:rPr>
              <a:t> </a:t>
            </a:r>
            <a:r>
              <a:rPr sz="950" b="0" i="0" dirty="0" err="1">
                <a:solidFill>
                  <a:srgbClr val="8A9BAE"/>
                </a:solidFill>
              </a:rPr>
              <a:t>ambiente</a:t>
            </a:r>
            <a:r>
              <a:rPr sz="950" b="0" i="0" dirty="0">
                <a:solidFill>
                  <a:srgbClr val="8A9BAE"/>
                </a:solidFill>
              </a:rPr>
              <a:t> o </a:t>
            </a:r>
            <a:r>
              <a:rPr sz="950" b="0" i="0" dirty="0" err="1">
                <a:solidFill>
                  <a:srgbClr val="8A9BAE"/>
                </a:solidFill>
              </a:rPr>
              <a:t>dominio</a:t>
            </a:r>
            <a:r>
              <a:rPr sz="950" b="0" i="0" dirty="0">
                <a:solidFill>
                  <a:srgbClr val="8A9BAE"/>
                </a:solidFill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31927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uc_axa_cli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3794759"/>
            <a:ext cx="4608576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9304" y="38861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🗂️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3840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DF2F7"/>
                </a:solidFill>
              </a:rPr>
              <a:t>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37944" y="398678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8A9BAE"/>
                </a:solidFill>
              </a:rPr>
              <a:t>Agrupa</a:t>
            </a:r>
            <a:r>
              <a:rPr sz="950" b="0" i="0" dirty="0">
                <a:solidFill>
                  <a:srgbClr val="8A9BAE"/>
                </a:solidFill>
              </a:rPr>
              <a:t> </a:t>
            </a:r>
            <a:r>
              <a:rPr sz="950" b="0" i="0" dirty="0" err="1">
                <a:solidFill>
                  <a:srgbClr val="8A9BAE"/>
                </a:solidFill>
              </a:rPr>
              <a:t>tablas</a:t>
            </a:r>
            <a:r>
              <a:rPr sz="950" b="0" i="0" dirty="0">
                <a:solidFill>
                  <a:srgbClr val="8A9BAE"/>
                </a:solidFill>
              </a:rPr>
              <a:t>, vistas, </a:t>
            </a:r>
            <a:r>
              <a:rPr sz="950" b="0" i="0" dirty="0" err="1">
                <a:solidFill>
                  <a:srgbClr val="8A9BAE"/>
                </a:solidFill>
              </a:rPr>
              <a:t>volúmenes</a:t>
            </a:r>
            <a:r>
              <a:rPr sz="950" b="0" i="0" dirty="0">
                <a:solidFill>
                  <a:srgbClr val="8A9BAE"/>
                </a:solidFill>
              </a:rPr>
              <a:t> y </a:t>
            </a:r>
            <a:r>
              <a:rPr sz="950" b="0" i="0" dirty="0" err="1">
                <a:solidFill>
                  <a:srgbClr val="8A9BAE"/>
                </a:solidFill>
              </a:rPr>
              <a:t>funciones</a:t>
            </a:r>
            <a:r>
              <a:rPr sz="950" b="0" i="0" dirty="0">
                <a:solidFill>
                  <a:srgbClr val="8A9BAE"/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95935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silver / gold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9032" y="4434839"/>
            <a:ext cx="4407408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90472" y="45262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9384" y="44805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A9BAE"/>
                </a:solidFill>
              </a:rPr>
              <a:t>Table/View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2761" y="4626863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8A9BAE"/>
                </a:solidFill>
              </a:rPr>
              <a:t>Objeto</a:t>
            </a:r>
            <a:r>
              <a:rPr sz="950" b="0" i="0" dirty="0">
                <a:solidFill>
                  <a:srgbClr val="8A9BAE"/>
                </a:solidFill>
              </a:rPr>
              <a:t> hoja. Nombre de 3 partes: </a:t>
            </a:r>
            <a:r>
              <a:rPr sz="950" b="0" i="0" dirty="0" err="1">
                <a:solidFill>
                  <a:srgbClr val="8A9BAE"/>
                </a:solidFill>
              </a:rPr>
              <a:t>catalog.schema.table</a:t>
            </a:r>
            <a:endParaRPr sz="950" b="0" i="0" dirty="0">
              <a:solidFill>
                <a:srgbClr val="8A9BA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86200" y="459943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uc_axa_cli.silver.hub_cliente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874519"/>
            <a:ext cx="5120640" cy="1170432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Nombre de 3 partes (three-part name)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203703"/>
            <a:ext cx="4846320" cy="777240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231343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A8D4FF"/>
                </a:solidFill>
                <a:latin typeface="Courier New"/>
              </a:rPr>
              <a:t>SELECT *</a:t>
            </a:r>
          </a:p>
          <a:p>
            <a:pPr algn="l"/>
            <a:r>
              <a:rPr sz="700" dirty="0">
                <a:solidFill>
                  <a:srgbClr val="A8D4FF"/>
                </a:solidFill>
                <a:latin typeface="Courier New"/>
              </a:rPr>
              <a:t>FROM </a:t>
            </a:r>
            <a:r>
              <a:rPr sz="700" dirty="0" err="1">
                <a:solidFill>
                  <a:srgbClr val="A8D4FF"/>
                </a:solidFill>
                <a:latin typeface="Courier New"/>
              </a:rPr>
              <a:t>uc_axa_cli.silver.hub_cliente</a:t>
            </a:r>
            <a:r>
              <a:rPr sz="700" dirty="0">
                <a:solidFill>
                  <a:srgbClr val="A8D4FF"/>
                </a:solidFill>
                <a:latin typeface="Courier New"/>
              </a:rPr>
              <a:t>;</a:t>
            </a:r>
          </a:p>
          <a:p>
            <a:pPr algn="l"/>
            <a:endParaRPr sz="700" dirty="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700" dirty="0">
                <a:solidFill>
                  <a:srgbClr val="A8D4FF"/>
                </a:solidFill>
                <a:latin typeface="Courier New"/>
              </a:rPr>
              <a:t>-- catalog : </a:t>
            </a:r>
            <a:r>
              <a:rPr sz="700" dirty="0" err="1">
                <a:solidFill>
                  <a:srgbClr val="A8D4FF"/>
                </a:solidFill>
                <a:latin typeface="Courier New"/>
              </a:rPr>
              <a:t>uc_axa_cli</a:t>
            </a:r>
            <a:endParaRPr sz="700" dirty="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700" dirty="0">
                <a:solidFill>
                  <a:srgbClr val="A8D4FF"/>
                </a:solidFill>
                <a:latin typeface="Courier New"/>
              </a:rPr>
              <a:t>-- schema  : silver</a:t>
            </a:r>
          </a:p>
          <a:p>
            <a:pPr algn="l"/>
            <a:r>
              <a:rPr sz="700" dirty="0">
                <a:solidFill>
                  <a:srgbClr val="A8D4FF"/>
                </a:solidFill>
                <a:latin typeface="Courier New"/>
              </a:rPr>
              <a:t>-- table   : </a:t>
            </a:r>
            <a:r>
              <a:rPr sz="700" dirty="0" err="1">
                <a:solidFill>
                  <a:srgbClr val="A8D4FF"/>
                </a:solidFill>
                <a:latin typeface="Courier New"/>
              </a:rPr>
              <a:t>hub_cliente</a:t>
            </a:r>
            <a:endParaRPr sz="700" dirty="0">
              <a:solidFill>
                <a:srgbClr val="A8D4FF"/>
              </a:solidFill>
              <a:latin typeface="Courier New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0" y="3136391"/>
            <a:ext cx="5120640" cy="10058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20954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Recomendación de catálogos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02151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523A"/>
                </a:solidFill>
              </a:rPr>
              <a:t>→  uc_axa_cli — producción Cliente 360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703319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B5C4"/>
                </a:solidFill>
              </a:rPr>
              <a:t>→  uc_axa_cli_dev — desarrollo y pruebas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904487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</a:rPr>
              <a:t>→  axa_col_dv — catálogos fuente (solo lectura)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233671"/>
            <a:ext cx="5120640" cy="6400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430682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Schemas en el proyecto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523A"/>
                </a:solidFill>
              </a:rPr>
              <a:t>bronze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44968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44968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B5C4"/>
                </a:solidFill>
              </a:rPr>
              <a:t>silver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1976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51976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A500"/>
                </a:solidFill>
              </a:rPr>
              <a:t>gold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58984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58984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B5C4"/>
                </a:solidFill>
              </a:rPr>
              <a:t>auditoria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Control de Acceso Unificado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8288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Modelo de privilegios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Sintaxis SQL estándar: GRANT / REVOKE</a:t>
            </a:r>
          </a:p>
          <a:p>
            <a:r>
              <a:rPr sz="1000">
                <a:solidFill>
                  <a:srgbClr val="EDF2F7"/>
                </a:solidFill>
              </a:rPr>
              <a:t>→  Los permisos cascadan hacia abajo: dar acceso al catalog da acceso a todos sus schemas</a:t>
            </a:r>
          </a:p>
          <a:p>
            <a:r>
              <a:rPr sz="1000">
                <a:solidFill>
                  <a:srgbClr val="EDF2F7"/>
                </a:solidFill>
              </a:rPr>
              <a:t>→  Cada objeto tiene un owner con control total</a:t>
            </a:r>
          </a:p>
          <a:p>
            <a:r>
              <a:rPr sz="1000">
                <a:solidFill>
                  <a:srgbClr val="EDF2F7"/>
                </a:solidFill>
              </a:rPr>
              <a:t>→  Workspace admins no pueden saltarse los permisos de 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858768"/>
            <a:ext cx="5303520" cy="15544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Row Filters &amp; Column Masks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Filtros de fila: el usuario solo ve los registros de su región / dominio</a:t>
            </a:r>
          </a:p>
          <a:p>
            <a:r>
              <a:rPr sz="1000">
                <a:solidFill>
                  <a:srgbClr val="EDF2F7"/>
                </a:solidFill>
              </a:rPr>
              <a:t>→  Máscaras de columna: numero_documento aparece enmascarado para roles sin clearance</a:t>
            </a:r>
          </a:p>
          <a:p>
            <a:r>
              <a:rPr sz="1000">
                <a:solidFill>
                  <a:srgbClr val="EDF2F7"/>
                </a:solidFill>
              </a:rPr>
              <a:t>→  Se definen como funciones SQL sobre la tabla — transparentes para el usuario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Dar acceso de lectura a un grupo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GRANT USE CATALOG ON CATALOG uc_axa_cli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TO `analistas_calidad`;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GRANT USE SCHEMA ON SCHEMA uc_axa_cli.gold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TO `analistas_calidad`;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GRANT SELECT ON TABLE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uc_axa_cli.gold.fact_reporte_calidad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TO `analistas_calidad`;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Máscara de columna PII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CREATE FUNCTION mask_doc(doc STRING)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RETURN IF(is_member('data_owners'),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doc, CONCAT('***',RIGHT(doc,4)));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sat_beyond_health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ALTER COLUMN numero_documento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SET MASK mask_doc;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Linaje de Datos Automático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66420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Cómo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UC captura el linaje automáticamente en cada lectura/escritura — sin instrumentar código</a:t>
            </a:r>
          </a:p>
          <a:p>
            <a:r>
              <a:rPr sz="1000">
                <a:solidFill>
                  <a:srgbClr val="EDF2F7"/>
                </a:solidFill>
              </a:rPr>
              <a:t>→  Funciona en notebooks, jobs, SQL y DLT pipelines</a:t>
            </a:r>
          </a:p>
          <a:p>
            <a:r>
              <a:rPr sz="1000">
                <a:solidFill>
                  <a:srgbClr val="EDF2F7"/>
                </a:solidFill>
              </a:rPr>
              <a:t>→  Visible en Catalog Explorer o consultable vía SQL en system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94176"/>
            <a:ext cx="5303520" cy="13716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856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En el proyecto AXA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41648"/>
            <a:ext cx="5029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core_bh.bh_sa_person → silver.sat_beyond_health</a:t>
            </a:r>
          </a:p>
          <a:p>
            <a:r>
              <a:rPr sz="1000">
                <a:solidFill>
                  <a:srgbClr val="EDF2F7"/>
                </a:solidFill>
              </a:rPr>
              <a:t>→  silver.sat_beyond_health → gold.fact_reporte_calidad</a:t>
            </a:r>
          </a:p>
          <a:p>
            <a:r>
              <a:rPr sz="1000">
                <a:solidFill>
                  <a:srgbClr val="EDF2F7"/>
                </a:solidFill>
              </a:rPr>
              <a:t>→  Si un campo cambia en la fuente, el linaje muestra todos los objetos impactados downstream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Linaje a nivel de tabla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source_table_full_name,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target_table_full_name, created_by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system.access.table_lineage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target_table_full_name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= 'uc_axa_cli.gold.fact_reporte_calidad'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ORDER BY event_time DESC;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Linaje a nivel de columna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source_table_full_name,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source_column_name, target_column_name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system.access.column_lineage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target_table_full_name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= 'uc_axa_cli.silver.hub_cliente'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ORDER BY event_time DESC;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Auditoría: quién accedió y cuándo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user_identity, action_name, event_time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system.access.audit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action_name = 'getTable'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AND event_time &gt; current_date() - 7;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TRAZABILIDAD ·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¿Hasta dónde llega el Linaje en UC?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74650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Nivel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74519"/>
            <a:ext cx="211226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920239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¿Automático?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74519"/>
            <a:ext cx="366674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3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Qué captura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39242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39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Condición / Limitación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74650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🗄  Tabla → Tabla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286000"/>
            <a:ext cx="211226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2331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✅  Automático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286000"/>
            <a:ext cx="366674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33172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Qué tabla de origen alimentó qué tabla de destino en cada INSERT, MERGE, CREATE TABLE AS SELECT.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286000"/>
            <a:ext cx="339242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233172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Solo requiere que las tablas estén registradas en Unity Catalog. Sin configuración adicional.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54680"/>
            <a:ext cx="174650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🔢  Columna → Columna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154680"/>
            <a:ext cx="211226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✅  Automático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154680"/>
            <a:ext cx="366674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2004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UC analiza el plan lógico y traza columna_origen → columna_destino. Ej: SELECT per_ncode AS id_entidad_hub → UC sabe la dependencia.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154680"/>
            <a:ext cx="339242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32004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Funciona con SQL o DataFrames PySpark. COALESCE(a,b) registra dependencia de ambas columnas pero no infiere la lógica interna.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23360"/>
            <a:ext cx="174650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0690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⚙️  Transformación / Lógica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023360"/>
            <a:ext cx="211226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7440" y="4069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❌  No automático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023360"/>
            <a:ext cx="366674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40690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UC no captura el 'por qué' ni la regla de negocio — solo el flujo del dato.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023360"/>
            <a:ext cx="339242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40690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Debe documentarse manualmente con COMMENT en tabla/columna o con TAGS.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5440680" cy="16002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Ejemplo en el proyecto AXA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330952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Linaje tabla: bh_sa_person → sat_beyond_health → fact_reporte_calidad  ✅ Automático</a:t>
            </a:r>
          </a:p>
          <a:p>
            <a:r>
              <a:rPr sz="1000">
                <a:solidFill>
                  <a:srgbClr val="EDF2F7"/>
                </a:solidFill>
              </a:rPr>
              <a:t>→  Linaje columna: TID_NCODE → tipo_documento  ✅ Automático</a:t>
            </a:r>
          </a:p>
          <a:p>
            <a:r>
              <a:rPr sz="1000">
                <a:solidFill>
                  <a:srgbClr val="EDF2F7"/>
                </a:solidFill>
              </a:rPr>
              <a:t>→  Regla de negocio del COALESCE(per_ncode, ins_ncode)  ❌ COMMENT manual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983480"/>
            <a:ext cx="5440680" cy="16002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Documentar la transformación manualmente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5330952"/>
            <a:ext cx="5440680" cy="12070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5440680"/>
            <a:ext cx="5166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COMMENT ON TABLE uc_axa_cli.silver.sat_beyond_health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IS 'Satélite DV2.0. Fuente: core_bh.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Dedup con QUALIFY ROW_NUMBER por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id_entidad_hub = COALESCE(per_ncode, ins_ncode).';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... ALTER COLUMN tipo_documento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COMMENT 'Renombrado de TID_NCODE.';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Metadata en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9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8288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3 mecanismos nativos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COMMENT — descripción libre de tabla o columna; aparece en Catalog Explorer y búsquedas</a:t>
            </a:r>
          </a:p>
          <a:p>
            <a:r>
              <a:rPr sz="1000">
                <a:solidFill>
                  <a:srgbClr val="EDF2F7"/>
                </a:solidFill>
              </a:rPr>
              <a:t>→  TAGS — etiquetas clave-valor: clasificación, búsqueda y políticas automáticas (ej. pii=true)</a:t>
            </a:r>
          </a:p>
          <a:p>
            <a:r>
              <a:rPr sz="1000">
                <a:solidFill>
                  <a:srgbClr val="EDF2F7"/>
                </a:solidFill>
              </a:rPr>
              <a:t>→  TBLPROPERTIES — propiedades técnicas Delta: CDF, iceberg compat, data skipping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858768"/>
            <a:ext cx="5303520" cy="17830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INFORMATION_SCHEMA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E"/>
                </a:solidFill>
              </a:rPr>
              <a:t>Cada catálogo expone su propio information_schema — tablas de sistema consultables en SQL estándar.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5371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information_schema.tables — lista de tablas con comentario</a:t>
            </a:r>
          </a:p>
          <a:p>
            <a:r>
              <a:rPr sz="1000">
                <a:solidFill>
                  <a:srgbClr val="EDF2F7"/>
                </a:solidFill>
              </a:rPr>
              <a:t>→  information_schema.columns — columnas con tipo y comentario</a:t>
            </a:r>
          </a:p>
          <a:p>
            <a:r>
              <a:rPr sz="1000">
                <a:solidFill>
                  <a:srgbClr val="EDF2F7"/>
                </a:solidFill>
              </a:rPr>
              <a:t>→  information_schema.table_constraints — PK/FK declaradas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Documentar tabla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COMMENT ON TABLE uc_axa_cli.silver.hub_cliente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IS 'Hub de Cliente DV2.0.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Llave de negocio: tipo_documento+numero_documento.';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Documentar columna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uc_axa_cli.silver.hub_cliente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ALTER COLUMN id_cliente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COMMENT 'tipo_documento || numero_documento.';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Agregar tags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uc_axa_cli.silver.hub_cliente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SET TAGS ('dominio'='cliente','capa'='silver',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  'pii'='true','cde'='true');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Buscar todos los campos PII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tag_name, tag_value,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catalog_name, schema_name, table_name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system.information_schema.table_tags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tag_name='pii' AND tag_value='true';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Diccionario de Datos — Estructura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</a:rPr>
              <a:t>Catálogo centralizado de todos los metadatos de la solución. Campos mínimos por columna: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132588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22494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Campo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212848"/>
            <a:ext cx="96012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65376" y="224942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Tipo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212848"/>
            <a:ext cx="205740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1216" y="224942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Descripción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212848"/>
            <a:ext cx="105156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74336" y="224942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Restricción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12848"/>
            <a:ext cx="160020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71616" y="224942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Tabla Ref.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212848"/>
            <a:ext cx="77724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22494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PII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2212848"/>
            <a:ext cx="169164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0496" y="224942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Seguridad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2212848"/>
            <a:ext cx="77724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77856" y="22494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CDE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32888"/>
            <a:ext cx="132588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" y="256946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pk_hub_cliente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2532888"/>
            <a:ext cx="96012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65376" y="256946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BIGINT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532888"/>
            <a:ext cx="2057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71216" y="256946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Llave surrogate del 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532888"/>
            <a:ext cx="105156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74336" y="256946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532888"/>
            <a:ext cx="16002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71616" y="256946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25328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17536" y="256946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532888"/>
            <a:ext cx="16916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256946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Uso Interno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25328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77856" y="256946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52928"/>
            <a:ext cx="132588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6" y="288950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id_cliente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2852928"/>
            <a:ext cx="96012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65376" y="288950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STRING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2852928"/>
            <a:ext cx="20574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71216" y="288950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tipo_doc + num_doc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2852928"/>
            <a:ext cx="105156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288950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UK|NOT 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852928"/>
            <a:ext cx="16002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71616" y="288950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285292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17536" y="288950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2852928"/>
            <a:ext cx="16916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288950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Confidencial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1280" y="285292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77856" y="288950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172968"/>
            <a:ext cx="132588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3776" y="320954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fk_hub_cliente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3172968"/>
            <a:ext cx="96012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865376" y="320954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BIGINT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172968"/>
            <a:ext cx="2057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71216" y="320954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Referencia al hub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3172968"/>
            <a:ext cx="105156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74336" y="320954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FK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172968"/>
            <a:ext cx="16002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071616" y="320954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hub_cliente.pk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317296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17536" y="320954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03920" y="3172968"/>
            <a:ext cx="16916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40496" y="320954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Uso Interno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1280" y="317296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77856" y="320954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3493008"/>
            <a:ext cx="132588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3776" y="352958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numero_documento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0" y="3493008"/>
            <a:ext cx="96012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865376" y="352958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STRING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34640" y="3493008"/>
            <a:ext cx="20574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871216" y="352958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Número de identificación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37760" y="3493008"/>
            <a:ext cx="105156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352958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NOT NULL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40" y="3493008"/>
            <a:ext cx="16002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071616" y="352958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349300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717536" y="352958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03920" y="3493008"/>
            <a:ext cx="16916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540496" y="352958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Confidencial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41280" y="349300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77856" y="352958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3813048"/>
            <a:ext cx="132588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93776" y="38496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porcentaje_calidad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0" y="3813048"/>
            <a:ext cx="96012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865376" y="384962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DOUBLE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34640" y="3813048"/>
            <a:ext cx="2057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871216" y="384962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% válidos/evaluados×100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37760" y="3813048"/>
            <a:ext cx="105156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974336" y="384962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NULLABLE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35040" y="3813048"/>
            <a:ext cx="16002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71616" y="384962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80960" y="381304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717536" y="38496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03920" y="3813048"/>
            <a:ext cx="16916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540496" y="384962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Uso Interno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41280" y="381304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277856" y="38496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4315968"/>
            <a:ext cx="3566160" cy="23774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Mínimo requerido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4360" y="46634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Nombre de campo</a:t>
            </a:r>
          </a:p>
          <a:p>
            <a:r>
              <a:rPr sz="1000">
                <a:solidFill>
                  <a:srgbClr val="EDF2F7"/>
                </a:solidFill>
              </a:rPr>
              <a:t>→  Tipo de dato</a:t>
            </a:r>
          </a:p>
          <a:p>
            <a:r>
              <a:rPr sz="1000">
                <a:solidFill>
                  <a:srgbClr val="EDF2F7"/>
                </a:solidFill>
              </a:rPr>
              <a:t>→  Descripción de negocio</a:t>
            </a:r>
          </a:p>
          <a:p>
            <a:r>
              <a:rPr sz="1000">
                <a:solidFill>
                  <a:srgbClr val="EDF2F7"/>
                </a:solidFill>
              </a:rPr>
              <a:t>→  Restricciones (PK/FK/UK)</a:t>
            </a:r>
          </a:p>
          <a:p>
            <a:r>
              <a:rPr sz="1000">
                <a:solidFill>
                  <a:srgbClr val="EDF2F7"/>
                </a:solidFill>
              </a:rPr>
              <a:t>→  Tabla referenciada (FK)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60520" y="4315968"/>
            <a:ext cx="3566160" cy="23774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29768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Gobierno del dato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97680" y="46634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Es dato personal (PII)</a:t>
            </a:r>
          </a:p>
          <a:p>
            <a:r>
              <a:rPr sz="1000">
                <a:solidFill>
                  <a:srgbClr val="EDF2F7"/>
                </a:solidFill>
              </a:rPr>
              <a:t>→  Clasificación de seguridad</a:t>
            </a:r>
          </a:p>
          <a:p>
            <a:r>
              <a:rPr sz="1000">
                <a:solidFill>
                  <a:srgbClr val="EDF2F7"/>
                </a:solidFill>
              </a:rPr>
              <a:t>→  Clasificación privacidad</a:t>
            </a:r>
          </a:p>
          <a:p>
            <a:r>
              <a:rPr sz="1000">
                <a:solidFill>
                  <a:srgbClr val="EDF2F7"/>
                </a:solidFill>
              </a:rPr>
              <a:t>→  CDE (Dato Crítico)</a:t>
            </a:r>
          </a:p>
          <a:p>
            <a:r>
              <a:rPr sz="1000">
                <a:solidFill>
                  <a:srgbClr val="EDF2F7"/>
                </a:solidFill>
              </a:rPr>
              <a:t>→  RDM (Referencia)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63840" y="4315968"/>
            <a:ext cx="3566160" cy="23774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00100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Dónde vive en UC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01000" y="46634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COMMENT → descripción</a:t>
            </a:r>
          </a:p>
          <a:p>
            <a:r>
              <a:rPr sz="1000">
                <a:solidFill>
                  <a:srgbClr val="EDF2F7"/>
                </a:solidFill>
              </a:rPr>
              <a:t>→  TAGS → pii, cde, seguridad</a:t>
            </a:r>
          </a:p>
          <a:p>
            <a:r>
              <a:rPr sz="1000">
                <a:solidFill>
                  <a:srgbClr val="EDF2F7"/>
                </a:solidFill>
              </a:rPr>
              <a:t>→  information_schema → tipos y restricciones</a:t>
            </a:r>
          </a:p>
          <a:p>
            <a:r>
              <a:rPr sz="1000">
                <a:solidFill>
                  <a:srgbClr val="EDF2F7"/>
                </a:solidFill>
              </a:rPr>
              <a:t>→  Excel/Confluence → complementario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OPTIMIZACIÓN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Automatización desde 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874519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Flujo recomendado (sin trabajo manual)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1  Llenar el Excel de metadatos una sola vez</a:t>
            </a:r>
          </a:p>
          <a:p>
            <a:r>
              <a:rPr sz="1000">
                <a:solidFill>
                  <a:srgbClr val="EDF2F7"/>
                </a:solidFill>
              </a:rPr>
              <a:t>→  2  Un notebook Python lee el Excel y ejecuta los COMMENT y ALTER TABLE en loop</a:t>
            </a:r>
          </a:p>
          <a:p>
            <a:r>
              <a:rPr sz="1000">
                <a:solidFill>
                  <a:srgbClr val="EDF2F7"/>
                </a:solidFill>
              </a:rPr>
              <a:t>→  3  El resultado queda vivo en UC — visible en Catalog Explorer</a:t>
            </a:r>
          </a:p>
          <a:p>
            <a:r>
              <a:rPr sz="1000">
                <a:solidFill>
                  <a:srgbClr val="EDF2F7"/>
                </a:solidFill>
              </a:rPr>
              <a:t>→  4  El diccionario se extrae automáticamente desde information_schema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904488"/>
            <a:ext cx="530352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95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Herramientas disponibles en Databricks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AI-generated comments — UC sugiere descripciones automáticas con IA (Databricks AI)</a:t>
            </a:r>
          </a:p>
          <a:p>
            <a:r>
              <a:rPr sz="1000">
                <a:solidFill>
                  <a:srgbClr val="EDF2F7"/>
                </a:solidFill>
              </a:rPr>
              <a:t>→  Catalog Explorer — edición de comments y tags vía UI sin SQL</a:t>
            </a:r>
          </a:p>
          <a:p>
            <a:r>
              <a:rPr sz="1000">
                <a:solidFill>
                  <a:srgbClr val="EDF2F7"/>
                </a:solidFill>
              </a:rPr>
              <a:t>→  REST API de UC — para integraciones CI/CD (Terraform, GitHub Actions)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# Notebook: cargar metadata masiva desde Excel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import pandas as pd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 = pd.read_excel('/dbfs/FileStore/Metadata.xlsx',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         sheet_name='Metadatos Columna')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for _, row in df.iterrows():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tabla = f"{row['Esquema Destino']}.{row['Nombre Activo']}"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col   = row['Columna']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desc  = row['Descripción Columna']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pii   = str(row['Datos Personales']).lower()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spark.sql(f"""ALTER TABLE uc_axa_cli.{tabla}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ALTER COLUMN {col} COMMENT '{desc}'""")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if pii in ('privado','sensible'):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spark.sql(f"""ALTER TABLE uc_axa_cli.{tabla}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ALTER COLUMN {col} SET TAGS ('pii'='true')""")</a:t>
            </a:r>
          </a:p>
          <a:p>
            <a:pPr algn="l"/>
            <a:endParaRPr sz="950">
              <a:solidFill>
                <a:srgbClr val="A8D4FF"/>
              </a:solidFill>
              <a:latin typeface="Courier New"/>
            </a:endParaRP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# Exportar diccionario actualizado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df_dict = spark.sql("""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SELECT table_schema, table_name,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column_name, data_type, comment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FROM uc_axa_cli.information_schema.columns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WHERE table_schema IN ('bronze','silver','gold')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ORDER BY table_schema, table_name, ordinal_position""")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df_dict.toPandas().to_excel(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'/dbfs/FileStore/diccionario_actualizado.xlsx', index=False)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SOLUCIÓN · AXA CLIENTES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Arquitectura Medallón en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474720" cy="4389120"/>
          </a:xfrm>
          <a:prstGeom prst="rect">
            <a:avLst/>
          </a:prstGeom>
          <a:solidFill>
            <a:srgbClr val="2A1A0A"/>
          </a:solidFill>
          <a:ln w="1524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7F32"/>
                </a:solidFill>
              </a:rPr>
              <a:t>🥉 Bronze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28600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225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📋 parametros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Ingesta directa desde plantilla Excel.
Tablas Delta sin transformación.
Retención: 1-3 años.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828800"/>
            <a:ext cx="3474720" cy="4389120"/>
          </a:xfrm>
          <a:prstGeom prst="rect">
            <a:avLst/>
          </a:prstGeom>
          <a:solidFill>
            <a:srgbClr val="0F2030"/>
          </a:solidFill>
          <a:ln w="1524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B5C4"/>
                </a:solidFill>
              </a:rPr>
              <a:t>🥈 Silver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228600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23225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⭐ sat_beyond_health  [BH]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2624328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266090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⭐ sat_sise_pyc  [SISE]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6" y="2962656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299923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⭐ sat_arl  [ARL]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3300984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333756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🔗 hub_cliente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3639312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61688" y="367588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📐 dim_parametros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397764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401421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📐 dim_reglas_calidad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8536" y="4315968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435254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📐 dim_tiempo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Data Vault 2.0.
PySpark puro, sin SQL de negocio.
Retención: 5-10 años.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54696" y="1828800"/>
            <a:ext cx="3474720" cy="4389120"/>
          </a:xfrm>
          <a:prstGeom prst="rect">
            <a:avLst/>
          </a:prstGeom>
          <a:solidFill>
            <a:srgbClr val="1A1500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91856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🥇 Gold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4424" y="228600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37576" y="23225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📊 fact_reporte_calidad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4424" y="2624328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37576" y="266090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📊 fact_resumen_reporte_calidad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Consumo analítico.
Dashboards ejecutivos de calidad.
Retención: 10+ años.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Catálogo Unity Catalog: uc_axa_cli  ·  Schemas: bronze / silver / gold / auditoria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Plan de Implementación UC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611880" cy="3108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Fase 1 — 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58567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DF2F7"/>
                </a:solidFill>
              </a:rPr>
              <a:t>→  Crear metastore en East US</a:t>
            </a:r>
          </a:p>
          <a:p>
            <a:r>
              <a:rPr sz="1050">
                <a:solidFill>
                  <a:srgbClr val="EDF2F7"/>
                </a:solidFill>
              </a:rPr>
              <a:t>→  Adjuntar todos los workspaces al metastore</a:t>
            </a:r>
          </a:p>
          <a:p>
            <a:r>
              <a:rPr sz="1050">
                <a:solidFill>
                  <a:srgbClr val="EDF2F7"/>
                </a:solidFill>
              </a:rPr>
              <a:t>→  Crear catálogo uc_axa_cli</a:t>
            </a:r>
          </a:p>
          <a:p>
            <a:r>
              <a:rPr sz="1050">
                <a:solidFill>
                  <a:srgbClr val="EDF2F7"/>
                </a:solidFill>
              </a:rPr>
              <a:t>→  Crear schemas bronze / silver / gold / auditoria</a:t>
            </a:r>
          </a:p>
          <a:p>
            <a:r>
              <a:rPr sz="1050">
                <a:solidFill>
                  <a:srgbClr val="EDF2F7"/>
                </a:solidFill>
              </a:rPr>
              <a:t>→  Definir External Location sobre ADLS Gen2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874519"/>
            <a:ext cx="3611880" cy="3108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8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Fase 2 — Datos y Permisos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258567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DF2F7"/>
                </a:solidFill>
              </a:rPr>
              <a:t>→  Migrar tablas Hive a UC (SYNC)</a:t>
            </a:r>
          </a:p>
          <a:p>
            <a:r>
              <a:rPr sz="1050">
                <a:solidFill>
                  <a:srgbClr val="EDF2F7"/>
                </a:solidFill>
              </a:rPr>
              <a:t>→  Crear grupos: data_owners, analistas, ingenieros</a:t>
            </a:r>
          </a:p>
          <a:p>
            <a:r>
              <a:rPr sz="1050">
                <a:solidFill>
                  <a:srgbClr val="EDF2F7"/>
                </a:solidFill>
              </a:rPr>
              <a:t>→  GRANT según rol (lectura, escritura, admin)</a:t>
            </a:r>
          </a:p>
          <a:p>
            <a:r>
              <a:rPr sz="1050">
                <a:solidFill>
                  <a:srgbClr val="EDF2F7"/>
                </a:solidFill>
              </a:rPr>
              <a:t>→  Aplicar column masks en campos PII</a:t>
            </a:r>
          </a:p>
          <a:p>
            <a:r>
              <a:rPr sz="1050">
                <a:solidFill>
                  <a:srgbClr val="EDF2F7"/>
                </a:solidFill>
              </a:rPr>
              <a:t>→  Activar row filters por unidad de negocio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611880" cy="3108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6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Fase 3 — Gobernanza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258567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DF2F7"/>
                </a:solidFill>
              </a:rPr>
              <a:t>→  Cargar metadata desde Excel (notebook Python)</a:t>
            </a:r>
          </a:p>
          <a:p>
            <a:r>
              <a:rPr sz="1050">
                <a:solidFill>
                  <a:srgbClr val="EDF2F7"/>
                </a:solidFill>
              </a:rPr>
              <a:t>→  Agregar COMMENT y TAGS a todas las tablas</a:t>
            </a:r>
          </a:p>
          <a:p>
            <a:r>
              <a:rPr sz="1050">
                <a:solidFill>
                  <a:srgbClr val="EDF2F7"/>
                </a:solidFill>
              </a:rPr>
              <a:t>→  Generar diccionario desde information_schema</a:t>
            </a:r>
          </a:p>
          <a:p>
            <a:r>
              <a:rPr sz="1050">
                <a:solidFill>
                  <a:srgbClr val="EDF2F7"/>
                </a:solidFill>
              </a:rPr>
              <a:t>→  Activar system tables para auditoría</a:t>
            </a:r>
          </a:p>
          <a:p>
            <a:r>
              <a:rPr sz="1050">
                <a:solidFill>
                  <a:srgbClr val="EDF2F7"/>
                </a:solidFill>
              </a:rPr>
              <a:t>→  Revisar linaje en Catalog Explorer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F2F7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tablas documentadas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8B5C4"/>
                </a:solidFill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columnas en el diccionario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capas medallón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CAF50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trabajo manual para el diccionario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METADATOS · GUÍA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Cómo diligenciar la Plantilla de Metadatos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298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DF2F7"/>
                </a:solidFill>
              </a:rPr>
              <a:t>El Excel de Metadatos tiene 3 pestañas. Así se llena cada una: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611880" cy="416052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611880" cy="347472"/>
          </a:xfrm>
          <a:prstGeom prst="rect">
            <a:avLst/>
          </a:prstGeom>
          <a:solidFill>
            <a:srgbClr val="1E3248"/>
          </a:solidFill>
          <a:ln w="15240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523A"/>
                </a:solidFill>
              </a:rPr>
              <a:t>📄 Portada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06624"/>
            <a:ext cx="3337560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Nombre del proyecto y versión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Área responsable / Data Owner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Fecha de creación y última actualización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Clasificación general del documento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Descripción del modelo de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2286000"/>
            <a:ext cx="3611880" cy="416052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2286000"/>
            <a:ext cx="3611880" cy="347472"/>
          </a:xfrm>
          <a:prstGeom prst="rect">
            <a:avLst/>
          </a:prstGeom>
          <a:solidFill>
            <a:srgbClr val="1E3248"/>
          </a:solidFill>
          <a:ln w="1524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331720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8B5C4"/>
                </a:solidFill>
              </a:rPr>
              <a:t>📊 Metadatos Tabla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06624"/>
            <a:ext cx="3337560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ID: código único (T01, T02…)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Nombre Activo: nombre exacto en Databricks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Capa: Bronze / Silver / Gold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Catálogo y Esquema Destino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Descripción: qué contiene la tabla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Data Owner Lead y Data Steward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Seguridad: Uso Interno / Confidencial / Restringido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Datos Personales: Sí / 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2286000"/>
            <a:ext cx="3611880" cy="416052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286000"/>
            <a:ext cx="3611880" cy="347472"/>
          </a:xfrm>
          <a:prstGeom prst="rect">
            <a:avLst/>
          </a:prstGeom>
          <a:solidFill>
            <a:srgbClr val="1E3248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331720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A500"/>
                </a:solidFill>
              </a:rPr>
              <a:t>🔢 Metadatos Columna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706624"/>
            <a:ext cx="3337560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ID Tabla: referencia a Metadatos Tabla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Columna: nombre exacto tal como está en Spark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Tipo de Dato: STRING / BIGINT / DATE…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Descripción: significado de negocio del campo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Restricciones: PK / FK / NOT NULL / UK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Tabla Referenciada: si es FK, qué tabla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PII: Sí si contiene datos personales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CDE: Sí si es un dato crítico de negocio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RDM: Sí si es un dato de referencia maestro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B5C4"/>
                </a:solidFill>
              </a:rPr>
              <a:t>💡  Tip: llenar Metadatos Tabla primero, luego Metadatos Columna. El ID de tabla es la llave que los une.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DICCIONARIO DE DATOS · GUÍA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Cómo crear el Diccionario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298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94960" cy="210312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Campos obligatorios por columna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Campo / Columna — nombre exacto en Databricks (snake_case)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Tipo de dato — STRING, BIGINT, DATE, DOUBLE, BOOLEAN…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Descripción — definición de negocio, no técnica. Quién la usa y para qué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Restricciones — PK, FK, NOT NULL, UNIQUE, NULLABLE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Tabla referenciada — si es FK: catalog.schema.tabla.columna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33088"/>
            <a:ext cx="5394960" cy="19202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Campos de gobierno del 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PII — ¿contiene dato personal? Sí / No (Ley 1581 Colombia)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Clasificación seguridad — Público / Uso Interno / Confidencial / Restringido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CDE (Critical Data Element) — dato de alto impacto en decisiones de negocio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RDM (Reference Data Management) — dato de referencia o catálogo maestro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20240"/>
            <a:ext cx="5394960" cy="18288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Proceso recomendado (4 pasos)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1.  Extraer lista de columnas desde information_schema.columns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2.  Completar descripción y restricciones en el Excel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3.  Cargar con el notebook Python (COMMENT + TAGS)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4.  Exportar de vuelta desde information_schema para tener el diccionario final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858768"/>
            <a:ext cx="5394960" cy="21945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50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Reglas de calidad del diccionario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Una fila por columna — nunca agrupar campos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Descripción mínimo 10 palabras: explica el significado, no el tipo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Nunca dejar la columna 'Descripción' vacía — es el campo más valioso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PII y Clasificación deben ser consistentes: si PII=Sí → Clasificación≥Confidencial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Actualizar el diccionario cada vez que se agrega o renombra una columna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AUTOMATIZACIÓN MASIVA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Carga Masiva de Metadatos desde 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298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103120" cy="777240"/>
          </a:xfrm>
          <a:prstGeom prst="rect">
            <a:avLst/>
          </a:prstGeom>
          <a:solidFill>
            <a:srgbClr val="1E3248"/>
          </a:solidFill>
          <a:ln w="19050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320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23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155448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F2F7"/>
                </a:solidFill>
              </a:rPr>
              <a:t>Excel
Metadatos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2296160"/>
            <a:ext cx="256032" cy="254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2140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523A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1920240"/>
            <a:ext cx="2103120" cy="777240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320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8B5C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029968"/>
            <a:ext cx="155448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F2F7"/>
                </a:solidFill>
              </a:rPr>
              <a:t>Notebook
Python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66944" y="2296160"/>
            <a:ext cx="256032" cy="25400"/>
          </a:xfrm>
          <a:prstGeom prst="rect">
            <a:avLst/>
          </a:prstGeom>
          <a:solidFill>
            <a:srgbClr val="48B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12140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8B5C4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920240"/>
            <a:ext cx="2103120" cy="777240"/>
          </a:xfrm>
          <a:prstGeom prst="rect">
            <a:avLst/>
          </a:prstGeom>
          <a:solidFill>
            <a:srgbClr val="1E3248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1965960"/>
            <a:ext cx="320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029968"/>
            <a:ext cx="155448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F2F7"/>
                </a:solidFill>
              </a:rPr>
              <a:t>Unity
Catalog 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2296160"/>
            <a:ext cx="256032" cy="254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12140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A50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1920240"/>
            <a:ext cx="2103120" cy="777240"/>
          </a:xfrm>
          <a:prstGeom prst="rect">
            <a:avLst/>
          </a:prstGeom>
          <a:solidFill>
            <a:srgbClr val="1E3248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1965960"/>
            <a:ext cx="320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AF5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029968"/>
            <a:ext cx="155448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F2F7"/>
                </a:solidFill>
              </a:rPr>
              <a:t>Diccionario
Automático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34640"/>
            <a:ext cx="5349240" cy="376732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2926080"/>
            <a:ext cx="509320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# PASO 1 — Exportar columnas existentes de UC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base = spark.sql('''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SELECT table_schema, table_name,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column_name, data_type,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ordinal_position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FROM uc_axa_cli.information_schema.columns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WHERE table_schema IN ("bronze","silver","gold")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ORDER BY table_schema, table_name, ordinal_position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''').toPandas()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base.to_excel('/dbfs/FileStore/base_dict.xlsx', index=False)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# PASO 2 — Después de diligenciar el Excel, cargar masivo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import pandas as pd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 = pd.read_excel('/dbfs/FileStore/Metadata.xlsx',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         sheet_name='Metadatos Columna')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errors = []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for _, row in df.iterrows():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try: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t = f"uc_axa_cli.{row['Esquema']}.{row['Tabla']}"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c = row['Columna']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d = str(row['Descripcion']).replace("'","''")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spark.sql(f"ALTER TABLE {t} ALTER COLUMN {c} COMMENT '{d}'")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if str(row['PII']).lower() in ('si','sí','true'):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spark.sql(f"ALTER TABLE {t} ALTER COLUMN {c}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SET TAGS ('pii'='true')")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except Exception as e: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errors.append({'tabla':t,'col':c,'error':str(e)})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print(f'{len(df)-len(errors)}/{len(df)} columnas cargadas OK')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if errors: display(pd.DataFrame(errors))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5349240" cy="14813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Qué automatiza este notebook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5074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DF2F7"/>
                </a:solidFill>
              </a:rPr>
              <a:t>→  Lee el Excel y recorre fila a fila todas las columnas documentadas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Ejecuta ALTER TABLE … ALTER COLUMN … COMMENT para cada columna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Aplica TAGS pii=true a los campos marcados como datos personales</a:t>
            </a:r>
          </a:p>
          <a:p>
            <a:pPr algn="l"/>
            <a:r>
              <a:rPr sz="1000">
                <a:solidFill>
                  <a:srgbClr val="EDF2F7"/>
                </a:solidFill>
              </a:rPr>
              <a:t>→  Registra errores por columna sin detener el proceso completo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407408"/>
            <a:ext cx="5349240" cy="1170432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PASO 3 — Exportar diccionario final actualizado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736592"/>
            <a:ext cx="5349240" cy="1691640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4828032"/>
            <a:ext cx="50932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dict_final = spark.sql('''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SELECT table_schema AS capa,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table_name   AS tabla,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column_name  AS campo,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data_type    AS tipo_dato,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comment      AS descripcion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FROM uc_axa_cli.information_schema.columns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WHERE table_schema IN ("bronze","silver","gold")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ORDER BY table_schema, table_name, ordinal_position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''').toPandas()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dict_final.to_excel('/dbfs/FileStore/Diccionario_Final.xlsx',index=False)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28816"/>
            <a:ext cx="11018520" cy="2377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5196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B5C4"/>
                </a:solidFill>
              </a:rPr>
              <a:t>💡  Resultado: el diccionario SIEMPRE refleja lo que está en Unity Catalog — no hay versiones desincronizadas.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¿Qué herramienta usar para el Diccionario de Datos?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298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01952"/>
            <a:ext cx="2651760" cy="42245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01952"/>
            <a:ext cx="2651760" cy="365760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⭐ Unity Catalog
(Databricks nativo)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304288"/>
            <a:ext cx="1325880" cy="237744"/>
          </a:xfrm>
          <a:prstGeom prst="rect">
            <a:avLst/>
          </a:prstGeom>
          <a:solidFill>
            <a:srgbClr val="48B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30428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923"/>
                </a:solidFill>
              </a:rPr>
              <a:t>✅ RECOMENDADO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96896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E"/>
                </a:solidFill>
              </a:rPr>
              <a:t>Recomendado para AXA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89504"/>
            <a:ext cx="243230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EDF2F7"/>
                </a:solidFill>
              </a:rPr>
              <a:t>→  Sin costo adicional — incluido en Databricks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COMMENT y TAGS directamente en las tablas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Diccionario vive en information_schema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Linaje automático integrado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Catalog Explorer como UI de consulta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901952"/>
            <a:ext cx="2651760" cy="42245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901952"/>
            <a:ext cx="2651760" cy="365760"/>
          </a:xfrm>
          <a:prstGeom prst="rect">
            <a:avLst/>
          </a:prstGeom>
          <a:solidFill>
            <a:srgbClr val="006FD6"/>
          </a:solidFill>
          <a:ln w="9525">
            <a:solidFill>
              <a:srgbClr val="00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9385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FD6"/>
                </a:solidFill>
              </a:rPr>
              <a:t>🔷 Microsoft Purview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30428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E"/>
                </a:solidFill>
              </a:rPr>
              <a:t>Si ya tienen Azure Purview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51760"/>
            <a:ext cx="243230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EDF2F7"/>
                </a:solidFill>
              </a:rPr>
              <a:t>→  Escanea Unity Catalog automáticamente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Clasificación automática de PII con IA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Integrado con Azure AD y Teams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Glossario de negocio centralizado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Opción válida si la org ya usa Purview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901952"/>
            <a:ext cx="2651760" cy="42245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901952"/>
            <a:ext cx="2651760" cy="365760"/>
          </a:xfrm>
          <a:prstGeom prst="rect">
            <a:avLst/>
          </a:prstGeom>
          <a:solidFill>
            <a:srgbClr val="1F8A70"/>
          </a:solidFill>
          <a:ln w="9525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385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8A70"/>
                </a:solidFill>
              </a:rPr>
              <a:t>🌐 DataHub
(open source)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30428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E"/>
                </a:solidFill>
              </a:rPr>
              <a:t>Opción gratuita y potente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2651760"/>
            <a:ext cx="243230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EDF2F7"/>
                </a:solidFill>
              </a:rPr>
              <a:t>→  Open source — sin licencia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Conector nativo para Databricks UC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Linaje visual tipo grafo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Búsqueda semántica de activos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Requiere infraestructura propia (K8s)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901952"/>
            <a:ext cx="2651760" cy="42245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901952"/>
            <a:ext cx="2651760" cy="365760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9385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</a:rPr>
              <a:t>🏆 Atlan / Alation
/ Collibra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30428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E"/>
                </a:solidFill>
              </a:rPr>
              <a:t>Soluciones 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651760"/>
            <a:ext cx="243230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EDF2F7"/>
                </a:solidFill>
              </a:rPr>
              <a:t>→  Catálogo de datos 100% gestionado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IA para sugerir descripciones y clasificaciones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Flujos de aprobación de metadata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Integración nativa con Databricks UC</a:t>
            </a:r>
          </a:p>
          <a:p>
            <a:pPr algn="l"/>
            <a:r>
              <a:rPr sz="950">
                <a:solidFill>
                  <a:srgbClr val="EDF2F7"/>
                </a:solidFill>
              </a:rPr>
              <a:t>→  Costo elevado — para orgs grandes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54496"/>
            <a:ext cx="11183112" cy="475488"/>
          </a:xfrm>
          <a:prstGeom prst="rect">
            <a:avLst/>
          </a:prstGeom>
          <a:solidFill>
            <a:srgbClr val="1E3248"/>
          </a:solidFill>
          <a:ln w="1270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09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DF2F7"/>
                </a:solidFill>
              </a:rPr>
              <a:t>🎯  Para AXA (corto plazo): Unity Catalog nativo + notebook Python de carga masiva.  Mediano plazo: evaluar Microsoft Purview si la organización ya usa Azure AD y Purview en otros proyectos.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2753</Words>
  <Application>Microsoft Office PowerPoint</Application>
  <PresentationFormat>Personalizado</PresentationFormat>
  <Paragraphs>411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Sindy Yuryma Espinosa Castro</dc:creator>
  <cp:keywords/>
  <dc:description>generated using python-pptx</dc:description>
  <cp:lastModifiedBy>Sindy Yuryma Espinosa Castro</cp:lastModifiedBy>
  <cp:revision>2</cp:revision>
  <dcterms:created xsi:type="dcterms:W3CDTF">2013-01-27T09:14:16Z</dcterms:created>
  <dcterms:modified xsi:type="dcterms:W3CDTF">2026-07-09T04:32:00Z</dcterms:modified>
  <cp:category/>
</cp:coreProperties>
</file>